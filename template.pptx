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603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365760"/>
          </a:xfrm>
          <a:prstGeom prst="rect">
            <a:avLst/>
          </a:prstGeom>
          <a:noFill/>
          <a:ln/>
        </p:spPr>
        <p:txBody>
          <a:bodyPr wrap="square" rtlCol="0" anchor="ctr"/>
          <a:lstStyle/>
          <a:p>
            <a:pPr marL="0" indent="0" algn="ctr">
              <a:buNone/>
            </a:pPr>
            <a:r>
              <a:rPr lang="en-US" sz="1100" dirty="0">
                <a:solidFill>
                  <a:srgbClr val="FFFFFF"/>
                </a:solidFill>
                <a:latin typeface="Poppins" pitchFamily="34" charset="0"/>
                <a:ea typeface="Poppins" pitchFamily="34" charset="-122"/>
                <a:cs typeface="Poppins" pitchFamily="34" charset="-120"/>
              </a:rPr>
              <a:t>AUDITORÍA GEO · 2026</a:t>
            </a:r>
            <a:endParaRPr lang="en-US" sz="1100" dirty="0"/>
          </a:p>
        </p:txBody>
      </p:sp>
      <p:sp>
        <p:nvSpPr>
          <p:cNvPr id="3" name="Text 1"/>
          <p:cNvSpPr/>
          <p:nvPr/>
        </p:nvSpPr>
        <p:spPr>
          <a:xfrm>
            <a:off x="457200" y="1920240"/>
            <a:ext cx="8229600" cy="914400"/>
          </a:xfrm>
          <a:prstGeom prst="rect">
            <a:avLst/>
          </a:prstGeom>
          <a:noFill/>
          <a:ln/>
        </p:spPr>
        <p:txBody>
          <a:bodyPr wrap="square" rtlCol="0" anchor="ctr"/>
          <a:lstStyle/>
          <a:p>
            <a:pPr marL="0" indent="0" algn="ctr">
              <a:buNone/>
            </a:pPr>
            <a:r>
              <a:rPr lang="en-US" sz="5400" dirty="0">
                <a:solidFill>
                  <a:srgbClr val="FFFFFF"/>
                </a:solidFill>
                <a:latin typeface="Poppins" pitchFamily="34" charset="0"/>
                <a:ea typeface="Poppins" pitchFamily="34" charset="-122"/>
                <a:cs typeface="Poppins" pitchFamily="34" charset="-120"/>
              </a:rPr>
              <a:t>Auditoría GEO</a:t>
            </a:r>
            <a:endParaRPr lang="en-US" sz="5400" dirty="0"/>
          </a:p>
        </p:txBody>
      </p:sp>
      <p:sp>
        <p:nvSpPr>
          <p:cNvPr id="4" name="Text 2"/>
          <p:cNvSpPr/>
          <p:nvPr/>
        </p:nvSpPr>
        <p:spPr>
          <a:xfrm>
            <a:off x="457200" y="2926080"/>
            <a:ext cx="8229600" cy="457200"/>
          </a:xfrm>
          <a:prstGeom prst="rect">
            <a:avLst/>
          </a:prstGeom>
          <a:noFill/>
          <a:ln/>
        </p:spPr>
        <p:txBody>
          <a:bodyPr wrap="square" rtlCol="0" anchor="ctr"/>
          <a:lstStyle/>
          <a:p>
            <a:pPr marL="0" indent="0" algn="ctr">
              <a:buNone/>
            </a:pPr>
            <a:r>
              <a:rPr lang="en-US" sz="2800" i="1" dirty="0">
                <a:solidFill>
                  <a:srgbClr val="FF6600"/>
                </a:solidFill>
                <a:latin typeface="Poppins" pitchFamily="34" charset="0"/>
                <a:ea typeface="Poppins" pitchFamily="34" charset="-122"/>
                <a:cs typeface="Poppins" pitchFamily="34" charset="-120"/>
              </a:rPr>
              <a:t>Strat Consultores</a:t>
            </a:r>
            <a:endParaRPr lang="en-US" sz="2800" dirty="0"/>
          </a:p>
        </p:txBody>
      </p:sp>
      <p:sp>
        <p:nvSpPr>
          <p:cNvPr id="5" name="Text 3"/>
          <p:cNvSpPr/>
          <p:nvPr/>
        </p:nvSpPr>
        <p:spPr>
          <a:xfrm>
            <a:off x="457200" y="3657600"/>
            <a:ext cx="8229600" cy="457200"/>
          </a:xfrm>
          <a:prstGeom prst="rect">
            <a:avLst/>
          </a:prstGeom>
          <a:noFill/>
          <a:ln/>
        </p:spPr>
        <p:txBody>
          <a:bodyPr wrap="square" rtlCol="0" anchor="ctr"/>
          <a:lstStyle/>
          <a:p>
            <a:pPr marL="0" indent="0" algn="ctr">
              <a:buNone/>
            </a:pPr>
            <a:r>
              <a:rPr lang="en-US" sz="1200" dirty="0">
                <a:solidFill>
                  <a:srgbClr val="CCCCCC"/>
                </a:solidFill>
                <a:latin typeface="Poppins" pitchFamily="34" charset="0"/>
                <a:ea typeface="Poppins" pitchFamily="34" charset="-122"/>
                <a:cs typeface="Poppins" pitchFamily="34" charset="-120"/>
              </a:rPr>
              <a:t>Cómo aparece en ChatGPT, Gemini, Claude y Perplexity</a:t>
            </a:r>
            <a:endParaRPr lang="en-US" sz="1200" dirty="0"/>
          </a:p>
        </p:txBody>
      </p:sp>
      <p:sp>
        <p:nvSpPr>
          <p:cNvPr id="6" name="Text 4"/>
          <p:cNvSpPr/>
          <p:nvPr/>
        </p:nvSpPr>
        <p:spPr>
          <a:xfrm>
            <a:off x="457200" y="4754880"/>
            <a:ext cx="8229600" cy="365760"/>
          </a:xfrm>
          <a:prstGeom prst="rect">
            <a:avLst/>
          </a:prstGeom>
          <a:noFill/>
          <a:ln/>
        </p:spPr>
        <p:txBody>
          <a:bodyPr wrap="square" rtlCol="0" anchor="ctr"/>
          <a:lstStyle/>
          <a:p>
            <a:pPr marL="0" indent="0" algn="ctr">
              <a:buNone/>
            </a:pPr>
            <a:r>
              <a:rPr lang="en-US" sz="1100" i="1" dirty="0">
                <a:solidFill>
                  <a:srgbClr val="CCCCCC"/>
                </a:solidFill>
                <a:latin typeface="Poppins" pitchFamily="34" charset="0"/>
                <a:ea typeface="Poppins" pitchFamily="34" charset="-122"/>
                <a:cs typeface="Poppins" pitchFamily="34" charset="-120"/>
              </a:rPr>
              <a:t>Análisis de visibilidad en LLMs · Mayo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Resumen ejecutivo</a:t>
            </a:r>
            <a:endParaRPr lang="en-US" sz="44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Score: 31/100</a:t>
            </a:r>
            <a:endParaRPr lang="en-US" sz="1400" dirty="0"/>
          </a:p>
        </p:txBody>
      </p:sp>
      <p:sp>
        <p:nvSpPr>
          <p:cNvPr id="4" name="Text 2"/>
          <p:cNvSpPr/>
          <p:nvPr/>
        </p:nvSpPr>
        <p:spPr>
          <a:xfrm>
            <a:off x="457200" y="1371600"/>
            <a:ext cx="8229600" cy="274320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Strat Consultores obtiene una puntuación de 31/100 en AI Visibility, lo que indica un nivel bajo de presencia en búsquedas de IA. Los principales modelos de lenguaje (ChatGPT, Gemini, Claude, Perplexity) no reconocen la empresa como referente en transformación digital ni la citan espontáneamente en respuestas sobre consultoría estratégica.</a:t>
            </a:r>
            <a:endParaRPr lang="en-US" sz="1100" dirty="0"/>
          </a:p>
          <a:p>
            <a:pPr marL="0" indent="0">
              <a:buNone/>
            </a:pP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La empresa tiene bases sólidas de autoridad y experiencia, pero falta contenido estructurado, casos de éxito documentados y presencia en fuentes que alimentan los entrenamientos de IA.</a:t>
            </a:r>
            <a:endParaRPr lang="en-US" sz="1100" dirty="0"/>
          </a:p>
        </p:txBody>
      </p:sp>
      <p:sp>
        <p:nvSpPr>
          <p:cNvPr id="5" name="Text 3"/>
          <p:cNvSpPr/>
          <p:nvPr/>
        </p:nvSpPr>
        <p:spPr>
          <a:xfrm>
            <a:off x="457200" y="4297680"/>
            <a:ext cx="8229600" cy="365760"/>
          </a:xfrm>
          <a:prstGeom prst="rect">
            <a:avLst/>
          </a:prstGeom>
          <a:noFill/>
          <a:ln/>
        </p:spPr>
        <p:txBody>
          <a:bodyPr wrap="square" rtlCol="0" anchor="ctr"/>
          <a:lstStyle/>
          <a:p>
            <a:pPr marL="0" indent="0">
              <a:buNone/>
            </a:pPr>
            <a:r>
              <a:rPr lang="en-US" sz="1000" i="1" dirty="0">
                <a:solidFill>
                  <a:srgbClr val="888888"/>
                </a:solidFill>
                <a:latin typeface="Poppins" pitchFamily="34" charset="0"/>
                <a:ea typeface="Poppins" pitchFamily="34" charset="-122"/>
                <a:cs typeface="Poppins" pitchFamily="34" charset="-120"/>
              </a:rPr>
              <a:t>Siguiente: Análisis detallado por modelo y recomendaciones de mejora.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Visibilidad por modelo</a:t>
            </a:r>
            <a:endParaRPr lang="en-US" sz="4400" dirty="0"/>
          </a:p>
        </p:txBody>
      </p:sp>
      <p:sp>
        <p:nvSpPr>
          <p:cNvPr id="3" name="Shape 1"/>
          <p:cNvSpPr/>
          <p:nvPr/>
        </p:nvSpPr>
        <p:spPr>
          <a:xfrm>
            <a:off x="457200" y="1097280"/>
            <a:ext cx="8229600" cy="548640"/>
          </a:xfrm>
          <a:prstGeom prst="rect">
            <a:avLst/>
          </a:prstGeom>
          <a:solidFill>
            <a:srgbClr val="F5F7FA"/>
          </a:solidFill>
          <a:ln/>
        </p:spPr>
        <p:txBody>
          <a:bodyPr/>
          <a:lstStyle/>
          <a:p>
            <a:endParaRPr lang="es-ES"/>
          </a:p>
        </p:txBody>
      </p:sp>
      <p:sp>
        <p:nvSpPr>
          <p:cNvPr id="4" name="Shape 2"/>
          <p:cNvSpPr/>
          <p:nvPr/>
        </p:nvSpPr>
        <p:spPr>
          <a:xfrm>
            <a:off x="457200" y="1234440"/>
            <a:ext cx="1755648" cy="274320"/>
          </a:xfrm>
          <a:prstGeom prst="rect">
            <a:avLst/>
          </a:prstGeom>
          <a:solidFill>
            <a:srgbClr val="FF6600"/>
          </a:solidFill>
          <a:ln/>
        </p:spPr>
        <p:txBody>
          <a:bodyPr/>
          <a:lstStyle/>
          <a:p>
            <a:endParaRPr lang="es-ES"/>
          </a:p>
        </p:txBody>
      </p:sp>
      <p:sp>
        <p:nvSpPr>
          <p:cNvPr id="5" name="Text 3"/>
          <p:cNvSpPr/>
          <p:nvPr/>
        </p:nvSpPr>
        <p:spPr>
          <a:xfrm>
            <a:off x="640080" y="1170432"/>
            <a:ext cx="1828800" cy="18288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ChatGPT</a:t>
            </a:r>
            <a:endParaRPr lang="en-US" sz="1100" dirty="0"/>
          </a:p>
        </p:txBody>
      </p:sp>
      <p:sp>
        <p:nvSpPr>
          <p:cNvPr id="6" name="Text 4"/>
          <p:cNvSpPr/>
          <p:nvPr/>
        </p:nvSpPr>
        <p:spPr>
          <a:xfrm>
            <a:off x="2395728" y="1170432"/>
            <a:ext cx="1371600" cy="182880"/>
          </a:xfrm>
          <a:prstGeom prst="rect">
            <a:avLst/>
          </a:prstGeom>
          <a:noFill/>
          <a:ln/>
        </p:spPr>
        <p:txBody>
          <a:bodyPr wrap="square" rtlCol="0" anchor="ctr"/>
          <a:lstStyle/>
          <a:p>
            <a:pPr marL="0" indent="0">
              <a:buNone/>
            </a:pPr>
            <a:r>
              <a:rPr lang="en-US" sz="1000" dirty="0">
                <a:solidFill>
                  <a:srgbClr val="FF6600"/>
                </a:solidFill>
                <a:latin typeface="Poppins" pitchFamily="34" charset="0"/>
                <a:ea typeface="Poppins" pitchFamily="34" charset="-122"/>
                <a:cs typeface="Poppins" pitchFamily="34" charset="-120"/>
              </a:rPr>
              <a:t>32/100</a:t>
            </a:r>
            <a:endParaRPr lang="en-US" sz="1000" dirty="0"/>
          </a:p>
        </p:txBody>
      </p:sp>
      <p:sp>
        <p:nvSpPr>
          <p:cNvPr id="7" name="Text 5"/>
          <p:cNvSpPr/>
          <p:nvPr/>
        </p:nvSpPr>
        <p:spPr>
          <a:xfrm>
            <a:off x="5943600" y="1170432"/>
            <a:ext cx="2743200" cy="18288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Bajo - Menciones mínimas</a:t>
            </a:r>
            <a:endParaRPr lang="en-US" sz="1000" dirty="0"/>
          </a:p>
        </p:txBody>
      </p:sp>
      <p:sp>
        <p:nvSpPr>
          <p:cNvPr id="8" name="Shape 6"/>
          <p:cNvSpPr/>
          <p:nvPr/>
        </p:nvSpPr>
        <p:spPr>
          <a:xfrm>
            <a:off x="457200" y="1828800"/>
            <a:ext cx="8229600" cy="548640"/>
          </a:xfrm>
          <a:prstGeom prst="rect">
            <a:avLst/>
          </a:prstGeom>
          <a:solidFill>
            <a:srgbClr val="F5F7FA"/>
          </a:solidFill>
          <a:ln/>
        </p:spPr>
        <p:txBody>
          <a:bodyPr/>
          <a:lstStyle/>
          <a:p>
            <a:endParaRPr lang="es-ES"/>
          </a:p>
        </p:txBody>
      </p:sp>
      <p:sp>
        <p:nvSpPr>
          <p:cNvPr id="9" name="Shape 7"/>
          <p:cNvSpPr/>
          <p:nvPr/>
        </p:nvSpPr>
        <p:spPr>
          <a:xfrm>
            <a:off x="457200" y="1965960"/>
            <a:ext cx="1645920" cy="274320"/>
          </a:xfrm>
          <a:prstGeom prst="rect">
            <a:avLst/>
          </a:prstGeom>
          <a:solidFill>
            <a:srgbClr val="FF6600"/>
          </a:solidFill>
          <a:ln/>
        </p:spPr>
        <p:txBody>
          <a:bodyPr/>
          <a:lstStyle/>
          <a:p>
            <a:endParaRPr lang="es-ES"/>
          </a:p>
        </p:txBody>
      </p:sp>
      <p:sp>
        <p:nvSpPr>
          <p:cNvPr id="10" name="Text 8"/>
          <p:cNvSpPr/>
          <p:nvPr/>
        </p:nvSpPr>
        <p:spPr>
          <a:xfrm>
            <a:off x="640080" y="1901952"/>
            <a:ext cx="1828800" cy="18288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Gemini</a:t>
            </a:r>
            <a:endParaRPr lang="en-US" sz="1100" dirty="0"/>
          </a:p>
        </p:txBody>
      </p:sp>
      <p:sp>
        <p:nvSpPr>
          <p:cNvPr id="11" name="Text 9"/>
          <p:cNvSpPr/>
          <p:nvPr/>
        </p:nvSpPr>
        <p:spPr>
          <a:xfrm>
            <a:off x="2286000" y="1901952"/>
            <a:ext cx="1371600" cy="182880"/>
          </a:xfrm>
          <a:prstGeom prst="rect">
            <a:avLst/>
          </a:prstGeom>
          <a:noFill/>
          <a:ln/>
        </p:spPr>
        <p:txBody>
          <a:bodyPr wrap="square" rtlCol="0" anchor="ctr"/>
          <a:lstStyle/>
          <a:p>
            <a:pPr marL="0" indent="0">
              <a:buNone/>
            </a:pPr>
            <a:r>
              <a:rPr lang="en-US" sz="1000" dirty="0">
                <a:solidFill>
                  <a:srgbClr val="FF6600"/>
                </a:solidFill>
                <a:latin typeface="Poppins" pitchFamily="34" charset="0"/>
                <a:ea typeface="Poppins" pitchFamily="34" charset="-122"/>
                <a:cs typeface="Poppins" pitchFamily="34" charset="-120"/>
              </a:rPr>
              <a:t>30/100</a:t>
            </a:r>
            <a:endParaRPr lang="en-US" sz="1000" dirty="0"/>
          </a:p>
        </p:txBody>
      </p:sp>
      <p:sp>
        <p:nvSpPr>
          <p:cNvPr id="12" name="Text 10"/>
          <p:cNvSpPr/>
          <p:nvPr/>
        </p:nvSpPr>
        <p:spPr>
          <a:xfrm>
            <a:off x="5943600" y="1901952"/>
            <a:ext cx="2743200" cy="18288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Bajo - Poco reconocimiento</a:t>
            </a:r>
            <a:endParaRPr lang="en-US" sz="1000" dirty="0"/>
          </a:p>
        </p:txBody>
      </p:sp>
      <p:sp>
        <p:nvSpPr>
          <p:cNvPr id="13" name="Shape 11"/>
          <p:cNvSpPr/>
          <p:nvPr/>
        </p:nvSpPr>
        <p:spPr>
          <a:xfrm>
            <a:off x="457200" y="2560320"/>
            <a:ext cx="8229600" cy="548640"/>
          </a:xfrm>
          <a:prstGeom prst="rect">
            <a:avLst/>
          </a:prstGeom>
          <a:solidFill>
            <a:srgbClr val="F5F7FA"/>
          </a:solidFill>
          <a:ln/>
        </p:spPr>
        <p:txBody>
          <a:bodyPr/>
          <a:lstStyle/>
          <a:p>
            <a:endParaRPr lang="es-ES"/>
          </a:p>
        </p:txBody>
      </p:sp>
      <p:sp>
        <p:nvSpPr>
          <p:cNvPr id="14" name="Shape 12"/>
          <p:cNvSpPr/>
          <p:nvPr/>
        </p:nvSpPr>
        <p:spPr>
          <a:xfrm>
            <a:off x="457200" y="2697480"/>
            <a:ext cx="1700784" cy="274320"/>
          </a:xfrm>
          <a:prstGeom prst="rect">
            <a:avLst/>
          </a:prstGeom>
          <a:solidFill>
            <a:srgbClr val="FF6600"/>
          </a:solidFill>
          <a:ln/>
        </p:spPr>
        <p:txBody>
          <a:bodyPr/>
          <a:lstStyle/>
          <a:p>
            <a:endParaRPr lang="es-ES"/>
          </a:p>
        </p:txBody>
      </p:sp>
      <p:sp>
        <p:nvSpPr>
          <p:cNvPr id="15" name="Text 13"/>
          <p:cNvSpPr/>
          <p:nvPr/>
        </p:nvSpPr>
        <p:spPr>
          <a:xfrm>
            <a:off x="640080" y="2633472"/>
            <a:ext cx="1828800" cy="18288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Claude</a:t>
            </a:r>
            <a:endParaRPr lang="en-US" sz="1100" dirty="0"/>
          </a:p>
        </p:txBody>
      </p:sp>
      <p:sp>
        <p:nvSpPr>
          <p:cNvPr id="16" name="Text 14"/>
          <p:cNvSpPr/>
          <p:nvPr/>
        </p:nvSpPr>
        <p:spPr>
          <a:xfrm>
            <a:off x="2340864" y="2633472"/>
            <a:ext cx="1371600" cy="182880"/>
          </a:xfrm>
          <a:prstGeom prst="rect">
            <a:avLst/>
          </a:prstGeom>
          <a:noFill/>
          <a:ln/>
        </p:spPr>
        <p:txBody>
          <a:bodyPr wrap="square" rtlCol="0" anchor="ctr"/>
          <a:lstStyle/>
          <a:p>
            <a:pPr marL="0" indent="0">
              <a:buNone/>
            </a:pPr>
            <a:r>
              <a:rPr lang="en-US" sz="1000" dirty="0">
                <a:solidFill>
                  <a:srgbClr val="FF6600"/>
                </a:solidFill>
                <a:latin typeface="Poppins" pitchFamily="34" charset="0"/>
                <a:ea typeface="Poppins" pitchFamily="34" charset="-122"/>
                <a:cs typeface="Poppins" pitchFamily="34" charset="-120"/>
              </a:rPr>
              <a:t>31/100</a:t>
            </a:r>
            <a:endParaRPr lang="en-US" sz="1000" dirty="0"/>
          </a:p>
        </p:txBody>
      </p:sp>
      <p:sp>
        <p:nvSpPr>
          <p:cNvPr id="17" name="Text 15"/>
          <p:cNvSpPr/>
          <p:nvPr/>
        </p:nvSpPr>
        <p:spPr>
          <a:xfrm>
            <a:off x="5943600" y="2633472"/>
            <a:ext cx="2743200" cy="18288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Bajo - Información limitada</a:t>
            </a:r>
            <a:endParaRPr lang="en-US" sz="1000" dirty="0"/>
          </a:p>
        </p:txBody>
      </p:sp>
      <p:sp>
        <p:nvSpPr>
          <p:cNvPr id="18" name="Shape 16"/>
          <p:cNvSpPr/>
          <p:nvPr/>
        </p:nvSpPr>
        <p:spPr>
          <a:xfrm>
            <a:off x="457200" y="3291840"/>
            <a:ext cx="8229600" cy="548640"/>
          </a:xfrm>
          <a:prstGeom prst="rect">
            <a:avLst/>
          </a:prstGeom>
          <a:solidFill>
            <a:srgbClr val="F5F7FA"/>
          </a:solidFill>
          <a:ln/>
        </p:spPr>
        <p:txBody>
          <a:bodyPr/>
          <a:lstStyle/>
          <a:p>
            <a:endParaRPr lang="es-ES"/>
          </a:p>
        </p:txBody>
      </p:sp>
      <p:sp>
        <p:nvSpPr>
          <p:cNvPr id="19" name="Shape 17"/>
          <p:cNvSpPr/>
          <p:nvPr/>
        </p:nvSpPr>
        <p:spPr>
          <a:xfrm>
            <a:off x="457200" y="3429000"/>
            <a:ext cx="1700784" cy="274320"/>
          </a:xfrm>
          <a:prstGeom prst="rect">
            <a:avLst/>
          </a:prstGeom>
          <a:solidFill>
            <a:srgbClr val="FF6600"/>
          </a:solidFill>
          <a:ln/>
        </p:spPr>
        <p:txBody>
          <a:bodyPr/>
          <a:lstStyle/>
          <a:p>
            <a:endParaRPr lang="es-ES"/>
          </a:p>
        </p:txBody>
      </p:sp>
      <p:sp>
        <p:nvSpPr>
          <p:cNvPr id="20" name="Text 18"/>
          <p:cNvSpPr/>
          <p:nvPr/>
        </p:nvSpPr>
        <p:spPr>
          <a:xfrm>
            <a:off x="640080" y="3364992"/>
            <a:ext cx="1828800" cy="18288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Perplexity</a:t>
            </a:r>
            <a:endParaRPr lang="en-US" sz="1100" dirty="0"/>
          </a:p>
        </p:txBody>
      </p:sp>
      <p:sp>
        <p:nvSpPr>
          <p:cNvPr id="21" name="Text 19"/>
          <p:cNvSpPr/>
          <p:nvPr/>
        </p:nvSpPr>
        <p:spPr>
          <a:xfrm>
            <a:off x="2340864" y="3364992"/>
            <a:ext cx="1371600" cy="182880"/>
          </a:xfrm>
          <a:prstGeom prst="rect">
            <a:avLst/>
          </a:prstGeom>
          <a:noFill/>
          <a:ln/>
        </p:spPr>
        <p:txBody>
          <a:bodyPr wrap="square" rtlCol="0" anchor="ctr"/>
          <a:lstStyle/>
          <a:p>
            <a:pPr marL="0" indent="0">
              <a:buNone/>
            </a:pPr>
            <a:r>
              <a:rPr lang="en-US" sz="1000" dirty="0">
                <a:solidFill>
                  <a:srgbClr val="FF6600"/>
                </a:solidFill>
                <a:latin typeface="Poppins" pitchFamily="34" charset="0"/>
                <a:ea typeface="Poppins" pitchFamily="34" charset="-122"/>
                <a:cs typeface="Poppins" pitchFamily="34" charset="-120"/>
              </a:rPr>
              <a:t>31/100</a:t>
            </a:r>
            <a:endParaRPr lang="en-US" sz="1000" dirty="0"/>
          </a:p>
        </p:txBody>
      </p:sp>
      <p:sp>
        <p:nvSpPr>
          <p:cNvPr id="22" name="Text 20"/>
          <p:cNvSpPr/>
          <p:nvPr/>
        </p:nvSpPr>
        <p:spPr>
          <a:xfrm>
            <a:off x="5943600" y="3364992"/>
            <a:ext cx="2743200" cy="18288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Bajo - Pocas fuentes disponibles</a:t>
            </a:r>
            <a:endParaRPr lang="en-US" sz="1000" dirty="0"/>
          </a:p>
        </p:txBody>
      </p:sp>
      <p:sp>
        <p:nvSpPr>
          <p:cNvPr id="23" name="Text 21"/>
          <p:cNvSpPr/>
          <p:nvPr/>
        </p:nvSpPr>
        <p:spPr>
          <a:xfrm>
            <a:off x="457200" y="4389120"/>
            <a:ext cx="8229600" cy="274320"/>
          </a:xfrm>
          <a:prstGeom prst="rect">
            <a:avLst/>
          </a:prstGeom>
          <a:noFill/>
          <a:ln/>
        </p:spPr>
        <p:txBody>
          <a:bodyPr wrap="square" rtlCol="0" anchor="ctr"/>
          <a:lstStyle/>
          <a:p>
            <a:pPr marL="0" indent="0">
              <a:buNone/>
            </a:pPr>
            <a:r>
              <a:rPr lang="en-US" sz="1200" dirty="0">
                <a:solidFill>
                  <a:srgbClr val="0F1B3D"/>
                </a:solidFill>
                <a:latin typeface="Poppins" pitchFamily="34" charset="0"/>
                <a:ea typeface="Poppins" pitchFamily="34" charset="-122"/>
                <a:cs typeface="Poppins" pitchFamily="34" charset="-120"/>
              </a:rPr>
              <a:t>Promedio: 31/100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Contexto competitivo</a:t>
            </a:r>
            <a:endParaRPr lang="en-US" sz="4400" dirty="0"/>
          </a:p>
        </p:txBody>
      </p:sp>
      <p:sp>
        <p:nvSpPr>
          <p:cNvPr id="3" name="Shape 1"/>
          <p:cNvSpPr/>
          <p:nvPr/>
        </p:nvSpPr>
        <p:spPr>
          <a:xfrm>
            <a:off x="457200" y="1097280"/>
            <a:ext cx="8229600" cy="502920"/>
          </a:xfrm>
          <a:prstGeom prst="rect">
            <a:avLst/>
          </a:prstGeom>
          <a:solidFill>
            <a:srgbClr val="FFFFFF"/>
          </a:solidFill>
          <a:ln w="12700">
            <a:solidFill>
              <a:srgbClr val="CCCCCC"/>
            </a:solidFill>
            <a:prstDash val="solid"/>
          </a:ln>
        </p:spPr>
        <p:txBody>
          <a:bodyPr/>
          <a:lstStyle/>
          <a:p>
            <a:endParaRPr lang="es-ES"/>
          </a:p>
        </p:txBody>
      </p:sp>
      <p:sp>
        <p:nvSpPr>
          <p:cNvPr id="4" name="Text 2"/>
          <p:cNvSpPr/>
          <p:nvPr/>
        </p:nvSpPr>
        <p:spPr>
          <a:xfrm>
            <a:off x="640080" y="1170432"/>
            <a:ext cx="22860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McKinsey</a:t>
            </a:r>
            <a:endParaRPr lang="en-US" sz="1100" dirty="0"/>
          </a:p>
        </p:txBody>
      </p:sp>
      <p:sp>
        <p:nvSpPr>
          <p:cNvPr id="5" name="Text 3"/>
          <p:cNvSpPr/>
          <p:nvPr/>
        </p:nvSpPr>
        <p:spPr>
          <a:xfrm>
            <a:off x="3017520" y="1170432"/>
            <a:ext cx="1371600" cy="228600"/>
          </a:xfrm>
          <a:prstGeom prst="rect">
            <a:avLst/>
          </a:prstGeom>
          <a:noFill/>
          <a:ln/>
        </p:spPr>
        <p:txBody>
          <a:bodyPr wrap="square" rtlCol="0" anchor="ctr"/>
          <a:lstStyle/>
          <a:p>
            <a:pPr marL="0" indent="0">
              <a:buNone/>
            </a:pPr>
            <a:r>
              <a:rPr lang="en-US" sz="1100" dirty="0">
                <a:solidFill>
                  <a:srgbClr val="FF6600"/>
                </a:solidFill>
                <a:latin typeface="Poppins" pitchFamily="34" charset="0"/>
                <a:ea typeface="Poppins" pitchFamily="34" charset="-122"/>
                <a:cs typeface="Poppins" pitchFamily="34" charset="-120"/>
              </a:rPr>
              <a:t>⭐⭐⭐⭐⭐</a:t>
            </a:r>
            <a:endParaRPr lang="en-US" sz="1100" dirty="0"/>
          </a:p>
        </p:txBody>
      </p:sp>
      <p:sp>
        <p:nvSpPr>
          <p:cNvPr id="6" name="Text 4"/>
          <p:cNvSpPr/>
          <p:nvPr/>
        </p:nvSpPr>
        <p:spPr>
          <a:xfrm>
            <a:off x="4572000" y="1170432"/>
            <a:ext cx="4114800" cy="228600"/>
          </a:xfrm>
          <a:prstGeom prst="rect">
            <a:avLst/>
          </a:prstGeom>
          <a:noFill/>
          <a:ln/>
        </p:spPr>
        <p:txBody>
          <a:bodyPr wrap="square" rtlCol="0" anchor="ctr"/>
          <a:lstStyle/>
          <a:p>
            <a:pPr marL="0" indent="0">
              <a:buNone/>
            </a:pPr>
            <a:r>
              <a:rPr lang="en-US" sz="1000" dirty="0">
                <a:solidFill>
                  <a:srgbClr val="555555"/>
                </a:solidFill>
                <a:latin typeface="Poppins" pitchFamily="34" charset="0"/>
                <a:ea typeface="Poppins" pitchFamily="34" charset="-122"/>
                <a:cs typeface="Poppins" pitchFamily="34" charset="-120"/>
              </a:rPr>
              <a:t>Referente global, amplia cobertura en IA</a:t>
            </a:r>
            <a:endParaRPr lang="en-US" sz="1000" dirty="0"/>
          </a:p>
        </p:txBody>
      </p:sp>
      <p:sp>
        <p:nvSpPr>
          <p:cNvPr id="7" name="Shape 5"/>
          <p:cNvSpPr/>
          <p:nvPr/>
        </p:nvSpPr>
        <p:spPr>
          <a:xfrm>
            <a:off x="457200" y="1737360"/>
            <a:ext cx="8229600" cy="502920"/>
          </a:xfrm>
          <a:prstGeom prst="rect">
            <a:avLst/>
          </a:prstGeom>
          <a:solidFill>
            <a:srgbClr val="FFFFFF"/>
          </a:solidFill>
          <a:ln w="12700">
            <a:solidFill>
              <a:srgbClr val="CCCCCC"/>
            </a:solidFill>
            <a:prstDash val="solid"/>
          </a:ln>
        </p:spPr>
        <p:txBody>
          <a:bodyPr/>
          <a:lstStyle/>
          <a:p>
            <a:endParaRPr lang="es-ES"/>
          </a:p>
        </p:txBody>
      </p:sp>
      <p:sp>
        <p:nvSpPr>
          <p:cNvPr id="8" name="Text 6"/>
          <p:cNvSpPr/>
          <p:nvPr/>
        </p:nvSpPr>
        <p:spPr>
          <a:xfrm>
            <a:off x="640080" y="1810512"/>
            <a:ext cx="22860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Deloitte</a:t>
            </a:r>
            <a:endParaRPr lang="en-US" sz="1100" dirty="0"/>
          </a:p>
        </p:txBody>
      </p:sp>
      <p:sp>
        <p:nvSpPr>
          <p:cNvPr id="9" name="Text 7"/>
          <p:cNvSpPr/>
          <p:nvPr/>
        </p:nvSpPr>
        <p:spPr>
          <a:xfrm>
            <a:off x="3017520" y="1810512"/>
            <a:ext cx="1371600" cy="228600"/>
          </a:xfrm>
          <a:prstGeom prst="rect">
            <a:avLst/>
          </a:prstGeom>
          <a:noFill/>
          <a:ln/>
        </p:spPr>
        <p:txBody>
          <a:bodyPr wrap="square" rtlCol="0" anchor="ctr"/>
          <a:lstStyle/>
          <a:p>
            <a:pPr marL="0" indent="0">
              <a:buNone/>
            </a:pPr>
            <a:r>
              <a:rPr lang="en-US" sz="1100" dirty="0">
                <a:solidFill>
                  <a:srgbClr val="FF6600"/>
                </a:solidFill>
                <a:latin typeface="Poppins" pitchFamily="34" charset="0"/>
                <a:ea typeface="Poppins" pitchFamily="34" charset="-122"/>
                <a:cs typeface="Poppins" pitchFamily="34" charset="-120"/>
              </a:rPr>
              <a:t>⭐⭐⭐⭐</a:t>
            </a:r>
            <a:endParaRPr lang="en-US" sz="1100" dirty="0"/>
          </a:p>
        </p:txBody>
      </p:sp>
      <p:sp>
        <p:nvSpPr>
          <p:cNvPr id="10" name="Text 8"/>
          <p:cNvSpPr/>
          <p:nvPr/>
        </p:nvSpPr>
        <p:spPr>
          <a:xfrm>
            <a:off x="4572000" y="1810512"/>
            <a:ext cx="4114800" cy="228600"/>
          </a:xfrm>
          <a:prstGeom prst="rect">
            <a:avLst/>
          </a:prstGeom>
          <a:noFill/>
          <a:ln/>
        </p:spPr>
        <p:txBody>
          <a:bodyPr wrap="square" rtlCol="0" anchor="ctr"/>
          <a:lstStyle/>
          <a:p>
            <a:pPr marL="0" indent="0">
              <a:buNone/>
            </a:pPr>
            <a:r>
              <a:rPr lang="en-US" sz="1000" dirty="0">
                <a:solidFill>
                  <a:srgbClr val="555555"/>
                </a:solidFill>
                <a:latin typeface="Poppins" pitchFamily="34" charset="0"/>
                <a:ea typeface="Poppins" pitchFamily="34" charset="-122"/>
                <a:cs typeface="Poppins" pitchFamily="34" charset="-120"/>
              </a:rPr>
              <a:t>Fuerte presencia en transformación digital</a:t>
            </a:r>
            <a:endParaRPr lang="en-US" sz="1000" dirty="0"/>
          </a:p>
        </p:txBody>
      </p:sp>
      <p:sp>
        <p:nvSpPr>
          <p:cNvPr id="11" name="Shape 9"/>
          <p:cNvSpPr/>
          <p:nvPr/>
        </p:nvSpPr>
        <p:spPr>
          <a:xfrm>
            <a:off x="457200" y="2377440"/>
            <a:ext cx="8229600" cy="502920"/>
          </a:xfrm>
          <a:prstGeom prst="rect">
            <a:avLst/>
          </a:prstGeom>
          <a:solidFill>
            <a:srgbClr val="FFFFFF"/>
          </a:solidFill>
          <a:ln w="12700">
            <a:solidFill>
              <a:srgbClr val="CCCCCC"/>
            </a:solidFill>
            <a:prstDash val="solid"/>
          </a:ln>
        </p:spPr>
        <p:txBody>
          <a:bodyPr/>
          <a:lstStyle/>
          <a:p>
            <a:endParaRPr lang="es-ES"/>
          </a:p>
        </p:txBody>
      </p:sp>
      <p:sp>
        <p:nvSpPr>
          <p:cNvPr id="12" name="Text 10"/>
          <p:cNvSpPr/>
          <p:nvPr/>
        </p:nvSpPr>
        <p:spPr>
          <a:xfrm>
            <a:off x="640080" y="2450592"/>
            <a:ext cx="22860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Accenture</a:t>
            </a:r>
            <a:endParaRPr lang="en-US" sz="1100" dirty="0"/>
          </a:p>
        </p:txBody>
      </p:sp>
      <p:sp>
        <p:nvSpPr>
          <p:cNvPr id="13" name="Text 11"/>
          <p:cNvSpPr/>
          <p:nvPr/>
        </p:nvSpPr>
        <p:spPr>
          <a:xfrm>
            <a:off x="3017520" y="2450592"/>
            <a:ext cx="1371600" cy="228600"/>
          </a:xfrm>
          <a:prstGeom prst="rect">
            <a:avLst/>
          </a:prstGeom>
          <a:noFill/>
          <a:ln/>
        </p:spPr>
        <p:txBody>
          <a:bodyPr wrap="square" rtlCol="0" anchor="ctr"/>
          <a:lstStyle/>
          <a:p>
            <a:pPr marL="0" indent="0">
              <a:buNone/>
            </a:pPr>
            <a:r>
              <a:rPr lang="en-US" sz="1100" dirty="0">
                <a:solidFill>
                  <a:srgbClr val="FF6600"/>
                </a:solidFill>
                <a:latin typeface="Poppins" pitchFamily="34" charset="0"/>
                <a:ea typeface="Poppins" pitchFamily="34" charset="-122"/>
                <a:cs typeface="Poppins" pitchFamily="34" charset="-120"/>
              </a:rPr>
              <a:t>⭐⭐⭐⭐</a:t>
            </a:r>
            <a:endParaRPr lang="en-US" sz="1100" dirty="0"/>
          </a:p>
        </p:txBody>
      </p:sp>
      <p:sp>
        <p:nvSpPr>
          <p:cNvPr id="14" name="Text 12"/>
          <p:cNvSpPr/>
          <p:nvPr/>
        </p:nvSpPr>
        <p:spPr>
          <a:xfrm>
            <a:off x="4572000" y="2450592"/>
            <a:ext cx="4114800" cy="228600"/>
          </a:xfrm>
          <a:prstGeom prst="rect">
            <a:avLst/>
          </a:prstGeom>
          <a:noFill/>
          <a:ln/>
        </p:spPr>
        <p:txBody>
          <a:bodyPr wrap="square" rtlCol="0" anchor="ctr"/>
          <a:lstStyle/>
          <a:p>
            <a:pPr marL="0" indent="0">
              <a:buNone/>
            </a:pPr>
            <a:r>
              <a:rPr lang="en-US" sz="1000" dirty="0">
                <a:solidFill>
                  <a:srgbClr val="555555"/>
                </a:solidFill>
                <a:latin typeface="Poppins" pitchFamily="34" charset="0"/>
                <a:ea typeface="Poppins" pitchFamily="34" charset="-122"/>
                <a:cs typeface="Poppins" pitchFamily="34" charset="-120"/>
              </a:rPr>
              <a:t>Amplia visibilidad en consultoría estratégica</a:t>
            </a:r>
            <a:endParaRPr lang="en-US" sz="1000" dirty="0"/>
          </a:p>
        </p:txBody>
      </p:sp>
      <p:sp>
        <p:nvSpPr>
          <p:cNvPr id="15" name="Shape 13"/>
          <p:cNvSpPr/>
          <p:nvPr/>
        </p:nvSpPr>
        <p:spPr>
          <a:xfrm>
            <a:off x="457200" y="3017520"/>
            <a:ext cx="8229600" cy="502920"/>
          </a:xfrm>
          <a:prstGeom prst="rect">
            <a:avLst/>
          </a:prstGeom>
          <a:solidFill>
            <a:srgbClr val="F5F7FA"/>
          </a:solidFill>
          <a:ln w="25400">
            <a:solidFill>
              <a:srgbClr val="FF6600"/>
            </a:solidFill>
            <a:prstDash val="solid"/>
          </a:ln>
        </p:spPr>
        <p:txBody>
          <a:bodyPr/>
          <a:lstStyle/>
          <a:p>
            <a:endParaRPr lang="es-ES"/>
          </a:p>
        </p:txBody>
      </p:sp>
      <p:sp>
        <p:nvSpPr>
          <p:cNvPr id="16" name="Text 14"/>
          <p:cNvSpPr/>
          <p:nvPr/>
        </p:nvSpPr>
        <p:spPr>
          <a:xfrm>
            <a:off x="640080" y="3090672"/>
            <a:ext cx="2286000" cy="228600"/>
          </a:xfrm>
          <a:prstGeom prst="rect">
            <a:avLst/>
          </a:prstGeom>
          <a:noFill/>
          <a:ln/>
        </p:spPr>
        <p:txBody>
          <a:bodyPr wrap="square" rtlCol="0" anchor="ctr"/>
          <a:lstStyle/>
          <a:p>
            <a:pPr marL="0" indent="0">
              <a:buNone/>
            </a:pPr>
            <a:r>
              <a:rPr lang="en-US" sz="1100" dirty="0">
                <a:solidFill>
                  <a:srgbClr val="FF6600"/>
                </a:solidFill>
                <a:latin typeface="Poppins" pitchFamily="34" charset="0"/>
                <a:ea typeface="Poppins" pitchFamily="34" charset="-122"/>
                <a:cs typeface="Poppins" pitchFamily="34" charset="-120"/>
              </a:rPr>
              <a:t>Strat Consultores</a:t>
            </a:r>
            <a:endParaRPr lang="en-US" sz="1100" dirty="0"/>
          </a:p>
        </p:txBody>
      </p:sp>
      <p:sp>
        <p:nvSpPr>
          <p:cNvPr id="17" name="Text 15"/>
          <p:cNvSpPr/>
          <p:nvPr/>
        </p:nvSpPr>
        <p:spPr>
          <a:xfrm>
            <a:off x="3017520" y="3090672"/>
            <a:ext cx="1371600" cy="228600"/>
          </a:xfrm>
          <a:prstGeom prst="rect">
            <a:avLst/>
          </a:prstGeom>
          <a:noFill/>
          <a:ln/>
        </p:spPr>
        <p:txBody>
          <a:bodyPr wrap="square" rtlCol="0" anchor="ctr"/>
          <a:lstStyle/>
          <a:p>
            <a:pPr marL="0" indent="0">
              <a:buNone/>
            </a:pPr>
            <a:r>
              <a:rPr lang="en-US" sz="1100" dirty="0">
                <a:solidFill>
                  <a:srgbClr val="FF6600"/>
                </a:solidFill>
                <a:latin typeface="Poppins" pitchFamily="34" charset="0"/>
                <a:ea typeface="Poppins" pitchFamily="34" charset="-122"/>
                <a:cs typeface="Poppins" pitchFamily="34" charset="-120"/>
              </a:rPr>
              <a:t>⭐</a:t>
            </a:r>
            <a:endParaRPr lang="en-US" sz="1100" dirty="0"/>
          </a:p>
        </p:txBody>
      </p:sp>
      <p:sp>
        <p:nvSpPr>
          <p:cNvPr id="18" name="Text 16"/>
          <p:cNvSpPr/>
          <p:nvPr/>
        </p:nvSpPr>
        <p:spPr>
          <a:xfrm>
            <a:off x="4572000" y="3090672"/>
            <a:ext cx="4114800" cy="228600"/>
          </a:xfrm>
          <a:prstGeom prst="rect">
            <a:avLst/>
          </a:prstGeom>
          <a:noFill/>
          <a:ln/>
        </p:spPr>
        <p:txBody>
          <a:bodyPr wrap="square" rtlCol="0" anchor="ctr"/>
          <a:lstStyle/>
          <a:p>
            <a:pPr marL="0" indent="0">
              <a:buNone/>
            </a:pPr>
            <a:r>
              <a:rPr lang="en-US" sz="1000" dirty="0">
                <a:solidFill>
                  <a:srgbClr val="555555"/>
                </a:solidFill>
                <a:latin typeface="Poppins" pitchFamily="34" charset="0"/>
                <a:ea typeface="Poppins" pitchFamily="34" charset="-122"/>
                <a:cs typeface="Poppins" pitchFamily="34" charset="-120"/>
              </a:rPr>
              <a:t>Bajo reconocimiento en búsquedas de IA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Análisis ChatGPT</a:t>
            </a:r>
            <a:endParaRPr lang="en-US" sz="4400" dirty="0"/>
          </a:p>
        </p:txBody>
      </p:sp>
      <p:sp>
        <p:nvSpPr>
          <p:cNvPr id="3" name="Text 1"/>
          <p:cNvSpPr/>
          <p:nvPr/>
        </p:nvSpPr>
        <p:spPr>
          <a:xfrm>
            <a:off x="457200" y="960120"/>
            <a:ext cx="8229600" cy="27432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Score: 32/100</a:t>
            </a:r>
            <a:endParaRPr lang="en-US" sz="1400" dirty="0"/>
          </a:p>
        </p:txBody>
      </p:sp>
      <p:sp>
        <p:nvSpPr>
          <p:cNvPr id="4" name="Text 2"/>
          <p:cNvSpPr/>
          <p:nvPr/>
        </p:nvSpPr>
        <p:spPr>
          <a:xfrm>
            <a:off x="457200" y="1371600"/>
            <a:ext cx="8229600" cy="320040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Hallazgos: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La empresa aparece principalmente cuando se pregunta directamente por nombre</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No aparece en respuestas espontáneas sobre consultoría estratégica o transformación digital</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Menciones genéricas sin diferenciación respecto a competencia</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Falta contenido educativo citable en ChatGPT</a:t>
            </a:r>
            <a:endParaRPr lang="en-US" sz="1100" dirty="0"/>
          </a:p>
          <a:p>
            <a:pPr marL="0" indent="0">
              <a:buNone/>
            </a:pP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Brechas identificadas: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Ausencia en comparativas de metodologías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No citada como case de éxito en transformación</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Bajo volumen de contenido indexado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Análisis Gemini</a:t>
            </a:r>
            <a:endParaRPr lang="en-US" sz="4400" dirty="0"/>
          </a:p>
        </p:txBody>
      </p:sp>
      <p:sp>
        <p:nvSpPr>
          <p:cNvPr id="3" name="Text 1"/>
          <p:cNvSpPr/>
          <p:nvPr/>
        </p:nvSpPr>
        <p:spPr>
          <a:xfrm>
            <a:off x="457200" y="960120"/>
            <a:ext cx="8229600" cy="27432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Score: 30/100</a:t>
            </a:r>
            <a:endParaRPr lang="en-US" sz="1400" dirty="0"/>
          </a:p>
        </p:txBody>
      </p:sp>
      <p:sp>
        <p:nvSpPr>
          <p:cNvPr id="4" name="Text 2"/>
          <p:cNvSpPr/>
          <p:nvPr/>
        </p:nvSpPr>
        <p:spPr>
          <a:xfrm>
            <a:off x="457200" y="1371600"/>
            <a:ext cx="8229600" cy="320040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Hallazgos: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Menor cantidad de menciones que ChatGPT</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Información limitada a directorios generales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No reconoce la metodología propia como diferenciador</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Respuestas genéricas sobre el sector</a:t>
            </a:r>
            <a:endParaRPr lang="en-US" sz="1100" dirty="0"/>
          </a:p>
          <a:p>
            <a:pPr marL="0" indent="0">
              <a:buNone/>
            </a:pP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Brechas identificadas: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Falta de presencia en búsquedas temáticas</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Sin guías estructuradas sobre metodología</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Bajo impacto en resultados de búsqueda</a:t>
            </a:r>
            <a:endParaRPr lang="en-US" sz="1100" dirty="0"/>
          </a:p>
          <a:p>
            <a:pPr marL="0" indent="0">
              <a:buNone/>
            </a:pPr>
            <a:r>
              <a:rPr lang="en-US" sz="1100" dirty="0">
                <a:solidFill>
                  <a:srgbClr val="555555"/>
                </a:solidFill>
                <a:latin typeface="Poppins" pitchFamily="34" charset="0"/>
                <a:ea typeface="Poppins" pitchFamily="34" charset="-122"/>
                <a:cs typeface="Poppins" pitchFamily="34" charset="-120"/>
              </a:rPr>
              <a:t>✗ No citada en análisis de tendencias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Fortalezas actuales</a:t>
            </a:r>
            <a:endParaRPr lang="en-US" sz="44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200" dirty="0">
                <a:solidFill>
                  <a:srgbClr val="888888"/>
                </a:solidFill>
                <a:latin typeface="Poppins" pitchFamily="34" charset="0"/>
                <a:ea typeface="Poppins" pitchFamily="34" charset="-122"/>
                <a:cs typeface="Poppins" pitchFamily="34" charset="-120"/>
              </a:rPr>
              <a:t>Lo que está funcionando:</a:t>
            </a:r>
            <a:endParaRPr lang="en-US" sz="1200" dirty="0"/>
          </a:p>
        </p:txBody>
      </p:sp>
      <p:sp>
        <p:nvSpPr>
          <p:cNvPr id="4" name="Text 2"/>
          <p:cNvSpPr/>
          <p:nvPr/>
        </p:nvSpPr>
        <p:spPr>
          <a:xfrm>
            <a:off x="640080" y="1463040"/>
            <a:ext cx="7863840" cy="32004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1. Presencia en directorios profesionales de consultoría</a:t>
            </a:r>
            <a:endParaRPr lang="en-US" sz="1100" dirty="0"/>
          </a:p>
        </p:txBody>
      </p:sp>
      <p:sp>
        <p:nvSpPr>
          <p:cNvPr id="5" name="Text 3"/>
          <p:cNvSpPr/>
          <p:nvPr/>
        </p:nvSpPr>
        <p:spPr>
          <a:xfrm>
            <a:off x="640080" y="1965960"/>
            <a:ext cx="7863840" cy="32004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2. Experiencia documentada en proyectos de transformación</a:t>
            </a:r>
            <a:endParaRPr lang="en-US" sz="1100" dirty="0"/>
          </a:p>
        </p:txBody>
      </p:sp>
      <p:sp>
        <p:nvSpPr>
          <p:cNvPr id="6" name="Text 4"/>
          <p:cNvSpPr/>
          <p:nvPr/>
        </p:nvSpPr>
        <p:spPr>
          <a:xfrm>
            <a:off x="640080" y="2468880"/>
            <a:ext cx="7863840" cy="32004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3. Equipo con perfiles variados en diferentes sectores</a:t>
            </a:r>
            <a:endParaRPr lang="en-US" sz="1100" dirty="0"/>
          </a:p>
        </p:txBody>
      </p:sp>
      <p:sp>
        <p:nvSpPr>
          <p:cNvPr id="7" name="Text 5"/>
          <p:cNvSpPr/>
          <p:nvPr/>
        </p:nvSpPr>
        <p:spPr>
          <a:xfrm>
            <a:off x="640080" y="2971800"/>
            <a:ext cx="7863840" cy="32004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4. Contenido actualizado sobre metodología interna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Oportunidades de mejora</a:t>
            </a:r>
            <a:endParaRPr lang="en-US" sz="44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200" dirty="0">
                <a:solidFill>
                  <a:srgbClr val="888888"/>
                </a:solidFill>
                <a:latin typeface="Poppins" pitchFamily="34" charset="0"/>
                <a:ea typeface="Poppins" pitchFamily="34" charset="-122"/>
                <a:cs typeface="Poppins" pitchFamily="34" charset="-120"/>
              </a:rPr>
              <a:t>Gaps que limitan visibilidad:</a:t>
            </a:r>
            <a:endParaRPr lang="en-US" sz="1200" dirty="0"/>
          </a:p>
        </p:txBody>
      </p:sp>
      <p:sp>
        <p:nvSpPr>
          <p:cNvPr id="4" name="Text 2"/>
          <p:cNvSpPr/>
          <p:nvPr/>
        </p:nvSpPr>
        <p:spPr>
          <a:xfrm>
            <a:off x="640080" y="1463040"/>
            <a:ext cx="7863840" cy="41148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1. Bajo reconocimiento en búsquedas de IA - modelos no menciona espontáneamente</a:t>
            </a:r>
            <a:endParaRPr lang="en-US" sz="1100" dirty="0"/>
          </a:p>
        </p:txBody>
      </p:sp>
      <p:sp>
        <p:nvSpPr>
          <p:cNvPr id="5" name="Text 3"/>
          <p:cNvSpPr/>
          <p:nvPr/>
        </p:nvSpPr>
        <p:spPr>
          <a:xfrm>
            <a:off x="640080" y="2057400"/>
            <a:ext cx="7863840" cy="41148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2. Falta de guías estructuradas sobre metodología diferencial vs competencia</a:t>
            </a:r>
            <a:endParaRPr lang="en-US" sz="1100" dirty="0"/>
          </a:p>
        </p:txBody>
      </p:sp>
      <p:sp>
        <p:nvSpPr>
          <p:cNvPr id="6" name="Text 4"/>
          <p:cNvSpPr/>
          <p:nvPr/>
        </p:nvSpPr>
        <p:spPr>
          <a:xfrm>
            <a:off x="640080" y="2651760"/>
            <a:ext cx="7863840" cy="41148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3. Casos de éxito sin documentación de ROI y métricas concretas</a:t>
            </a:r>
            <a:endParaRPr lang="en-US" sz="1100" dirty="0"/>
          </a:p>
        </p:txBody>
      </p:sp>
      <p:sp>
        <p:nvSpPr>
          <p:cNvPr id="7" name="Text 5"/>
          <p:cNvSpPr/>
          <p:nvPr/>
        </p:nvSpPr>
        <p:spPr>
          <a:xfrm>
            <a:off x="640080" y="3246120"/>
            <a:ext cx="7863840" cy="411480"/>
          </a:xfrm>
          <a:prstGeom prst="rect">
            <a:avLst/>
          </a:prstGeom>
          <a:noFill/>
          <a:ln/>
        </p:spPr>
        <p:txBody>
          <a:bodyPr wrap="square" rtlCol="0" anchor="ctr"/>
          <a:lstStyle/>
          <a:p>
            <a:pPr marL="0" indent="0">
              <a:buNone/>
            </a:pPr>
            <a:r>
              <a:rPr lang="en-US" sz="1100" dirty="0">
                <a:solidFill>
                  <a:srgbClr val="555555"/>
                </a:solidFill>
                <a:latin typeface="Poppins" pitchFamily="34" charset="0"/>
                <a:ea typeface="Poppins" pitchFamily="34" charset="-122"/>
                <a:cs typeface="Poppins" pitchFamily="34" charset="-120"/>
              </a:rPr>
              <a:t>4. Escasa presencia en medios especializados y fuentes que alimentan IA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4400" dirty="0">
                <a:solidFill>
                  <a:srgbClr val="0F1B3D"/>
                </a:solidFill>
                <a:latin typeface="Poppins" pitchFamily="34" charset="0"/>
                <a:ea typeface="Poppins" pitchFamily="34" charset="-122"/>
                <a:cs typeface="Poppins" pitchFamily="34" charset="-120"/>
              </a:rPr>
              <a:t>Top 5 recomendaciones</a:t>
            </a:r>
            <a:endParaRPr lang="en-US" sz="4400" dirty="0"/>
          </a:p>
        </p:txBody>
      </p:sp>
      <p:sp>
        <p:nvSpPr>
          <p:cNvPr id="3" name="Shape 1"/>
          <p:cNvSpPr/>
          <p:nvPr/>
        </p:nvSpPr>
        <p:spPr>
          <a:xfrm>
            <a:off x="457200" y="1005840"/>
            <a:ext cx="8229600" cy="594360"/>
          </a:xfrm>
          <a:prstGeom prst="rect">
            <a:avLst/>
          </a:prstGeom>
          <a:solidFill>
            <a:srgbClr val="F5F7FA"/>
          </a:solidFill>
          <a:ln/>
        </p:spPr>
        <p:txBody>
          <a:bodyPr/>
          <a:lstStyle/>
          <a:p>
            <a:endParaRPr lang="es-ES"/>
          </a:p>
        </p:txBody>
      </p:sp>
      <p:sp>
        <p:nvSpPr>
          <p:cNvPr id="4" name="Text 2"/>
          <p:cNvSpPr/>
          <p:nvPr/>
        </p:nvSpPr>
        <p:spPr>
          <a:xfrm>
            <a:off x="640080" y="1143000"/>
            <a:ext cx="365760" cy="32004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1</a:t>
            </a:r>
            <a:endParaRPr lang="en-US" sz="1400" dirty="0"/>
          </a:p>
        </p:txBody>
      </p:sp>
      <p:sp>
        <p:nvSpPr>
          <p:cNvPr id="5" name="Text 3"/>
          <p:cNvSpPr/>
          <p:nvPr/>
        </p:nvSpPr>
        <p:spPr>
          <a:xfrm>
            <a:off x="1188720" y="1078992"/>
            <a:ext cx="59436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Crear página de casos de estudio</a:t>
            </a:r>
            <a:endParaRPr lang="en-US" sz="1100" dirty="0"/>
          </a:p>
        </p:txBody>
      </p:sp>
      <p:sp>
        <p:nvSpPr>
          <p:cNvPr id="6" name="Text 4"/>
          <p:cNvSpPr/>
          <p:nvPr/>
        </p:nvSpPr>
        <p:spPr>
          <a:xfrm>
            <a:off x="1188720" y="1325880"/>
            <a:ext cx="5943600" cy="22860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Con resultados cuantitativos, ROI, y métricas de éxito. Plazo: 2-3 semanas</a:t>
            </a:r>
            <a:endParaRPr lang="en-US" sz="1000" dirty="0"/>
          </a:p>
        </p:txBody>
      </p:sp>
      <p:sp>
        <p:nvSpPr>
          <p:cNvPr id="7" name="Text 5"/>
          <p:cNvSpPr/>
          <p:nvPr/>
        </p:nvSpPr>
        <p:spPr>
          <a:xfrm>
            <a:off x="7315200" y="1143000"/>
            <a:ext cx="1280160" cy="320040"/>
          </a:xfrm>
          <a:prstGeom prst="rect">
            <a:avLst/>
          </a:prstGeom>
          <a:noFill/>
          <a:ln/>
        </p:spPr>
        <p:txBody>
          <a:bodyPr wrap="square" rtlCol="0" anchor="ctr"/>
          <a:lstStyle/>
          <a:p>
            <a:pPr marL="0" indent="0" algn="r">
              <a:buNone/>
            </a:pPr>
            <a:r>
              <a:rPr lang="en-US" sz="1200" dirty="0">
                <a:solidFill>
                  <a:srgbClr val="FF6600"/>
                </a:solidFill>
                <a:latin typeface="Poppins" pitchFamily="34" charset="0"/>
                <a:ea typeface="Poppins" pitchFamily="34" charset="-122"/>
                <a:cs typeface="Poppins" pitchFamily="34" charset="-120"/>
              </a:rPr>
              <a:t>⭐⭐⭐</a:t>
            </a:r>
            <a:endParaRPr lang="en-US" sz="1200" dirty="0"/>
          </a:p>
        </p:txBody>
      </p:sp>
      <p:sp>
        <p:nvSpPr>
          <p:cNvPr id="8" name="Shape 6"/>
          <p:cNvSpPr/>
          <p:nvPr/>
        </p:nvSpPr>
        <p:spPr>
          <a:xfrm>
            <a:off x="457200" y="1737360"/>
            <a:ext cx="8229600" cy="594360"/>
          </a:xfrm>
          <a:prstGeom prst="rect">
            <a:avLst/>
          </a:prstGeom>
          <a:solidFill>
            <a:srgbClr val="F5F7FA"/>
          </a:solidFill>
          <a:ln/>
        </p:spPr>
        <p:txBody>
          <a:bodyPr/>
          <a:lstStyle/>
          <a:p>
            <a:endParaRPr lang="es-ES"/>
          </a:p>
        </p:txBody>
      </p:sp>
      <p:sp>
        <p:nvSpPr>
          <p:cNvPr id="9" name="Text 7"/>
          <p:cNvSpPr/>
          <p:nvPr/>
        </p:nvSpPr>
        <p:spPr>
          <a:xfrm>
            <a:off x="640080" y="1874520"/>
            <a:ext cx="365760" cy="32004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2</a:t>
            </a:r>
            <a:endParaRPr lang="en-US" sz="1400" dirty="0"/>
          </a:p>
        </p:txBody>
      </p:sp>
      <p:sp>
        <p:nvSpPr>
          <p:cNvPr id="10" name="Text 8"/>
          <p:cNvSpPr/>
          <p:nvPr/>
        </p:nvSpPr>
        <p:spPr>
          <a:xfrm>
            <a:off x="1188720" y="1810512"/>
            <a:ext cx="59436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Hub de guías sobre metodología</a:t>
            </a:r>
            <a:endParaRPr lang="en-US" sz="1100" dirty="0"/>
          </a:p>
        </p:txBody>
      </p:sp>
      <p:sp>
        <p:nvSpPr>
          <p:cNvPr id="11" name="Text 9"/>
          <p:cNvSpPr/>
          <p:nvPr/>
        </p:nvSpPr>
        <p:spPr>
          <a:xfrm>
            <a:off x="1188720" y="2057400"/>
            <a:ext cx="5943600" cy="22860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Comparativas, guías descargables, webinars. Plazo: 3-4 semanas</a:t>
            </a:r>
            <a:endParaRPr lang="en-US" sz="1000" dirty="0"/>
          </a:p>
        </p:txBody>
      </p:sp>
      <p:sp>
        <p:nvSpPr>
          <p:cNvPr id="12" name="Text 10"/>
          <p:cNvSpPr/>
          <p:nvPr/>
        </p:nvSpPr>
        <p:spPr>
          <a:xfrm>
            <a:off x="7315200" y="1874520"/>
            <a:ext cx="1280160" cy="320040"/>
          </a:xfrm>
          <a:prstGeom prst="rect">
            <a:avLst/>
          </a:prstGeom>
          <a:noFill/>
          <a:ln/>
        </p:spPr>
        <p:txBody>
          <a:bodyPr wrap="square" rtlCol="0" anchor="ctr"/>
          <a:lstStyle/>
          <a:p>
            <a:pPr marL="0" indent="0" algn="r">
              <a:buNone/>
            </a:pPr>
            <a:r>
              <a:rPr lang="en-US" sz="1200" dirty="0">
                <a:solidFill>
                  <a:srgbClr val="FF6600"/>
                </a:solidFill>
                <a:latin typeface="Poppins" pitchFamily="34" charset="0"/>
                <a:ea typeface="Poppins" pitchFamily="34" charset="-122"/>
                <a:cs typeface="Poppins" pitchFamily="34" charset="-120"/>
              </a:rPr>
              <a:t>⭐⭐⭐</a:t>
            </a:r>
            <a:endParaRPr lang="en-US" sz="1200" dirty="0"/>
          </a:p>
        </p:txBody>
      </p:sp>
      <p:sp>
        <p:nvSpPr>
          <p:cNvPr id="13" name="Shape 11"/>
          <p:cNvSpPr/>
          <p:nvPr/>
        </p:nvSpPr>
        <p:spPr>
          <a:xfrm>
            <a:off x="457200" y="2468880"/>
            <a:ext cx="8229600" cy="594360"/>
          </a:xfrm>
          <a:prstGeom prst="rect">
            <a:avLst/>
          </a:prstGeom>
          <a:solidFill>
            <a:srgbClr val="F5F7FA"/>
          </a:solidFill>
          <a:ln/>
        </p:spPr>
        <p:txBody>
          <a:bodyPr/>
          <a:lstStyle/>
          <a:p>
            <a:endParaRPr lang="es-ES"/>
          </a:p>
        </p:txBody>
      </p:sp>
      <p:sp>
        <p:nvSpPr>
          <p:cNvPr id="14" name="Text 12"/>
          <p:cNvSpPr/>
          <p:nvPr/>
        </p:nvSpPr>
        <p:spPr>
          <a:xfrm>
            <a:off x="640080" y="2606040"/>
            <a:ext cx="365760" cy="32004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3</a:t>
            </a:r>
            <a:endParaRPr lang="en-US" sz="1400" dirty="0"/>
          </a:p>
        </p:txBody>
      </p:sp>
      <p:sp>
        <p:nvSpPr>
          <p:cNvPr id="15" name="Text 13"/>
          <p:cNvSpPr/>
          <p:nvPr/>
        </p:nvSpPr>
        <p:spPr>
          <a:xfrm>
            <a:off x="1188720" y="2542032"/>
            <a:ext cx="59436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Presencia en medios especializados</a:t>
            </a:r>
            <a:endParaRPr lang="en-US" sz="1100" dirty="0"/>
          </a:p>
        </p:txBody>
      </p:sp>
      <p:sp>
        <p:nvSpPr>
          <p:cNvPr id="16" name="Text 14"/>
          <p:cNvSpPr/>
          <p:nvPr/>
        </p:nvSpPr>
        <p:spPr>
          <a:xfrm>
            <a:off x="1188720" y="2788920"/>
            <a:ext cx="5943600" cy="22860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PR, artículos en publicaciones, menciones. Plazo: 4-6 semanas</a:t>
            </a:r>
            <a:endParaRPr lang="en-US" sz="1000" dirty="0"/>
          </a:p>
        </p:txBody>
      </p:sp>
      <p:sp>
        <p:nvSpPr>
          <p:cNvPr id="17" name="Text 15"/>
          <p:cNvSpPr/>
          <p:nvPr/>
        </p:nvSpPr>
        <p:spPr>
          <a:xfrm>
            <a:off x="7315200" y="2606040"/>
            <a:ext cx="1280160" cy="320040"/>
          </a:xfrm>
          <a:prstGeom prst="rect">
            <a:avLst/>
          </a:prstGeom>
          <a:noFill/>
          <a:ln/>
        </p:spPr>
        <p:txBody>
          <a:bodyPr wrap="square" rtlCol="0" anchor="ctr"/>
          <a:lstStyle/>
          <a:p>
            <a:pPr marL="0" indent="0" algn="r">
              <a:buNone/>
            </a:pPr>
            <a:r>
              <a:rPr lang="en-US" sz="1200" dirty="0">
                <a:solidFill>
                  <a:srgbClr val="FF6600"/>
                </a:solidFill>
                <a:latin typeface="Poppins" pitchFamily="34" charset="0"/>
                <a:ea typeface="Poppins" pitchFamily="34" charset="-122"/>
                <a:cs typeface="Poppins" pitchFamily="34" charset="-120"/>
              </a:rPr>
              <a:t>⭐⭐⭐</a:t>
            </a:r>
            <a:endParaRPr lang="en-US" sz="1200" dirty="0"/>
          </a:p>
        </p:txBody>
      </p:sp>
      <p:sp>
        <p:nvSpPr>
          <p:cNvPr id="18" name="Shape 16"/>
          <p:cNvSpPr/>
          <p:nvPr/>
        </p:nvSpPr>
        <p:spPr>
          <a:xfrm>
            <a:off x="457200" y="3200400"/>
            <a:ext cx="8229600" cy="594360"/>
          </a:xfrm>
          <a:prstGeom prst="rect">
            <a:avLst/>
          </a:prstGeom>
          <a:solidFill>
            <a:srgbClr val="F5F7FA"/>
          </a:solidFill>
          <a:ln/>
        </p:spPr>
        <p:txBody>
          <a:bodyPr/>
          <a:lstStyle/>
          <a:p>
            <a:endParaRPr lang="es-ES"/>
          </a:p>
        </p:txBody>
      </p:sp>
      <p:sp>
        <p:nvSpPr>
          <p:cNvPr id="19" name="Text 17"/>
          <p:cNvSpPr/>
          <p:nvPr/>
        </p:nvSpPr>
        <p:spPr>
          <a:xfrm>
            <a:off x="640080" y="3337560"/>
            <a:ext cx="365760" cy="32004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4</a:t>
            </a:r>
            <a:endParaRPr lang="en-US" sz="1400" dirty="0"/>
          </a:p>
        </p:txBody>
      </p:sp>
      <p:sp>
        <p:nvSpPr>
          <p:cNvPr id="20" name="Text 18"/>
          <p:cNvSpPr/>
          <p:nvPr/>
        </p:nvSpPr>
        <p:spPr>
          <a:xfrm>
            <a:off x="1188720" y="3273552"/>
            <a:ext cx="59436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Optimizar Schema.org</a:t>
            </a:r>
            <a:endParaRPr lang="en-US" sz="1100" dirty="0"/>
          </a:p>
        </p:txBody>
      </p:sp>
      <p:sp>
        <p:nvSpPr>
          <p:cNvPr id="21" name="Text 19"/>
          <p:cNvSpPr/>
          <p:nvPr/>
        </p:nvSpPr>
        <p:spPr>
          <a:xfrm>
            <a:off x="1188720" y="3520440"/>
            <a:ext cx="5943600" cy="22860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Datos estructurados, rich snippets. Plazo: 1 semana</a:t>
            </a:r>
            <a:endParaRPr lang="en-US" sz="1000" dirty="0"/>
          </a:p>
        </p:txBody>
      </p:sp>
      <p:sp>
        <p:nvSpPr>
          <p:cNvPr id="22" name="Text 20"/>
          <p:cNvSpPr/>
          <p:nvPr/>
        </p:nvSpPr>
        <p:spPr>
          <a:xfrm>
            <a:off x="7315200" y="3337560"/>
            <a:ext cx="1280160" cy="320040"/>
          </a:xfrm>
          <a:prstGeom prst="rect">
            <a:avLst/>
          </a:prstGeom>
          <a:noFill/>
          <a:ln/>
        </p:spPr>
        <p:txBody>
          <a:bodyPr wrap="square" rtlCol="0" anchor="ctr"/>
          <a:lstStyle/>
          <a:p>
            <a:pPr marL="0" indent="0" algn="r">
              <a:buNone/>
            </a:pPr>
            <a:r>
              <a:rPr lang="en-US" sz="1200" dirty="0">
                <a:solidFill>
                  <a:srgbClr val="FF6600"/>
                </a:solidFill>
                <a:latin typeface="Poppins" pitchFamily="34" charset="0"/>
                <a:ea typeface="Poppins" pitchFamily="34" charset="-122"/>
                <a:cs typeface="Poppins" pitchFamily="34" charset="-120"/>
              </a:rPr>
              <a:t>⭐⭐</a:t>
            </a:r>
            <a:endParaRPr lang="en-US" sz="1200" dirty="0"/>
          </a:p>
        </p:txBody>
      </p:sp>
      <p:sp>
        <p:nvSpPr>
          <p:cNvPr id="23" name="Shape 21"/>
          <p:cNvSpPr/>
          <p:nvPr/>
        </p:nvSpPr>
        <p:spPr>
          <a:xfrm>
            <a:off x="457200" y="3931920"/>
            <a:ext cx="8229600" cy="594360"/>
          </a:xfrm>
          <a:prstGeom prst="rect">
            <a:avLst/>
          </a:prstGeom>
          <a:solidFill>
            <a:srgbClr val="F5F7FA"/>
          </a:solidFill>
          <a:ln/>
        </p:spPr>
        <p:txBody>
          <a:bodyPr/>
          <a:lstStyle/>
          <a:p>
            <a:endParaRPr lang="es-ES"/>
          </a:p>
        </p:txBody>
      </p:sp>
      <p:sp>
        <p:nvSpPr>
          <p:cNvPr id="24" name="Text 22"/>
          <p:cNvSpPr/>
          <p:nvPr/>
        </p:nvSpPr>
        <p:spPr>
          <a:xfrm>
            <a:off x="640080" y="4069080"/>
            <a:ext cx="365760" cy="320040"/>
          </a:xfrm>
          <a:prstGeom prst="rect">
            <a:avLst/>
          </a:prstGeom>
          <a:noFill/>
          <a:ln/>
        </p:spPr>
        <p:txBody>
          <a:bodyPr wrap="square" rtlCol="0" anchor="ctr"/>
          <a:lstStyle/>
          <a:p>
            <a:pPr marL="0" indent="0">
              <a:buNone/>
            </a:pPr>
            <a:r>
              <a:rPr lang="en-US" sz="1400" dirty="0">
                <a:solidFill>
                  <a:srgbClr val="FF6600"/>
                </a:solidFill>
                <a:latin typeface="Poppins" pitchFamily="34" charset="0"/>
                <a:ea typeface="Poppins" pitchFamily="34" charset="-122"/>
                <a:cs typeface="Poppins" pitchFamily="34" charset="-120"/>
              </a:rPr>
              <a:t>5</a:t>
            </a:r>
            <a:endParaRPr lang="en-US" sz="1400" dirty="0"/>
          </a:p>
        </p:txBody>
      </p:sp>
      <p:sp>
        <p:nvSpPr>
          <p:cNvPr id="25" name="Text 23"/>
          <p:cNvSpPr/>
          <p:nvPr/>
        </p:nvSpPr>
        <p:spPr>
          <a:xfrm>
            <a:off x="1188720" y="4005072"/>
            <a:ext cx="5943600" cy="228600"/>
          </a:xfrm>
          <a:prstGeom prst="rect">
            <a:avLst/>
          </a:prstGeom>
          <a:noFill/>
          <a:ln/>
        </p:spPr>
        <p:txBody>
          <a:bodyPr wrap="square" rtlCol="0" anchor="ctr"/>
          <a:lstStyle/>
          <a:p>
            <a:pPr marL="0" indent="0">
              <a:buNone/>
            </a:pPr>
            <a:r>
              <a:rPr lang="en-US" sz="1100" dirty="0">
                <a:solidFill>
                  <a:srgbClr val="0F1B3D"/>
                </a:solidFill>
                <a:latin typeface="Poppins" pitchFamily="34" charset="0"/>
                <a:ea typeface="Poppins" pitchFamily="34" charset="-122"/>
                <a:cs typeface="Poppins" pitchFamily="34" charset="-120"/>
              </a:rPr>
              <a:t>Contenido blog temático</a:t>
            </a:r>
            <a:endParaRPr lang="en-US" sz="1100" dirty="0"/>
          </a:p>
        </p:txBody>
      </p:sp>
      <p:sp>
        <p:nvSpPr>
          <p:cNvPr id="26" name="Text 24"/>
          <p:cNvSpPr/>
          <p:nvPr/>
        </p:nvSpPr>
        <p:spPr>
          <a:xfrm>
            <a:off x="1188720" y="4251960"/>
            <a:ext cx="5943600" cy="228600"/>
          </a:xfrm>
          <a:prstGeom prst="rect">
            <a:avLst/>
          </a:prstGeom>
          <a:noFill/>
          <a:ln/>
        </p:spPr>
        <p:txBody>
          <a:bodyPr wrap="square" rtlCol="0" anchor="ctr"/>
          <a:lstStyle/>
          <a:p>
            <a:pPr marL="0" indent="0">
              <a:buNone/>
            </a:pPr>
            <a:r>
              <a:rPr lang="en-US" sz="1000" dirty="0">
                <a:solidFill>
                  <a:srgbClr val="888888"/>
                </a:solidFill>
                <a:latin typeface="Poppins" pitchFamily="34" charset="0"/>
                <a:ea typeface="Poppins" pitchFamily="34" charset="-122"/>
                <a:cs typeface="Poppins" pitchFamily="34" charset="-120"/>
              </a:rPr>
              <a:t>Insights sobre transformación digital. Plazo: 2 semanas/post</a:t>
            </a:r>
            <a:endParaRPr lang="en-US" sz="1000" dirty="0"/>
          </a:p>
        </p:txBody>
      </p:sp>
      <p:sp>
        <p:nvSpPr>
          <p:cNvPr id="27" name="Text 25"/>
          <p:cNvSpPr/>
          <p:nvPr/>
        </p:nvSpPr>
        <p:spPr>
          <a:xfrm>
            <a:off x="7315200" y="4069080"/>
            <a:ext cx="1280160" cy="320040"/>
          </a:xfrm>
          <a:prstGeom prst="rect">
            <a:avLst/>
          </a:prstGeom>
          <a:noFill/>
          <a:ln/>
        </p:spPr>
        <p:txBody>
          <a:bodyPr wrap="square" rtlCol="0" anchor="ctr"/>
          <a:lstStyle/>
          <a:p>
            <a:pPr marL="0" indent="0" algn="r">
              <a:buNone/>
            </a:pPr>
            <a:r>
              <a:rPr lang="en-US" sz="1200" dirty="0">
                <a:solidFill>
                  <a:srgbClr val="FF6600"/>
                </a:solidFill>
                <a:latin typeface="Poppins" pitchFamily="34" charset="0"/>
                <a:ea typeface="Poppins" pitchFamily="34" charset="-122"/>
                <a:cs typeface="Poppins"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3D"/>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411480"/>
          </a:xfrm>
          <a:prstGeom prst="rect">
            <a:avLst/>
          </a:prstGeom>
          <a:noFill/>
          <a:ln/>
        </p:spPr>
        <p:txBody>
          <a:bodyPr wrap="square" rtlCol="0" anchor="ctr"/>
          <a:lstStyle/>
          <a:p>
            <a:pPr marL="0" indent="0">
              <a:buNone/>
            </a:pPr>
            <a:r>
              <a:rPr lang="en-US" sz="4400" dirty="0">
                <a:solidFill>
                  <a:srgbClr val="FFFFFF"/>
                </a:solidFill>
                <a:latin typeface="Poppins" pitchFamily="34" charset="0"/>
                <a:ea typeface="Poppins" pitchFamily="34" charset="-122"/>
                <a:cs typeface="Poppins" pitchFamily="34" charset="-120"/>
              </a:rPr>
              <a:t>Próximos pasos</a:t>
            </a:r>
            <a:endParaRPr lang="en-US" sz="4400" dirty="0"/>
          </a:p>
        </p:txBody>
      </p:sp>
      <p:sp>
        <p:nvSpPr>
          <p:cNvPr id="3" name="Text 1"/>
          <p:cNvSpPr/>
          <p:nvPr/>
        </p:nvSpPr>
        <p:spPr>
          <a:xfrm>
            <a:off x="914400" y="1188720"/>
            <a:ext cx="457200" cy="365760"/>
          </a:xfrm>
          <a:prstGeom prst="rect">
            <a:avLst/>
          </a:prstGeom>
          <a:noFill/>
          <a:ln/>
        </p:spPr>
        <p:txBody>
          <a:bodyPr wrap="square" rtlCol="0" anchor="ctr"/>
          <a:lstStyle/>
          <a:p>
            <a:pPr marL="0" indent="0" algn="ctr">
              <a:buNone/>
            </a:pPr>
            <a:r>
              <a:rPr lang="en-US" sz="2400" dirty="0">
                <a:solidFill>
                  <a:srgbClr val="FF6600"/>
                </a:solidFill>
                <a:latin typeface="Poppins" pitchFamily="34" charset="0"/>
                <a:ea typeface="Poppins" pitchFamily="34" charset="-122"/>
                <a:cs typeface="Poppins" pitchFamily="34" charset="-120"/>
              </a:rPr>
              <a:t>1</a:t>
            </a:r>
            <a:endParaRPr lang="en-US" sz="2400" dirty="0"/>
          </a:p>
        </p:txBody>
      </p:sp>
      <p:sp>
        <p:nvSpPr>
          <p:cNvPr id="4" name="Text 2"/>
          <p:cNvSpPr/>
          <p:nvPr/>
        </p:nvSpPr>
        <p:spPr>
          <a:xfrm>
            <a:off x="1645920" y="1234440"/>
            <a:ext cx="6126480" cy="228600"/>
          </a:xfrm>
          <a:prstGeom prst="rect">
            <a:avLst/>
          </a:prstGeom>
          <a:noFill/>
          <a:ln/>
        </p:spPr>
        <p:txBody>
          <a:bodyPr wrap="square" rtlCol="0" anchor="ctr"/>
          <a:lstStyle/>
          <a:p>
            <a:pPr marL="0" indent="0">
              <a:buNone/>
            </a:pPr>
            <a:r>
              <a:rPr lang="en-US" sz="1200" dirty="0">
                <a:solidFill>
                  <a:srgbClr val="FFFFFF"/>
                </a:solidFill>
                <a:latin typeface="Poppins" pitchFamily="34" charset="0"/>
                <a:ea typeface="Poppins" pitchFamily="34" charset="-122"/>
                <a:cs typeface="Poppins" pitchFamily="34" charset="-120"/>
              </a:rPr>
              <a:t>Revisar hallazgos</a:t>
            </a:r>
            <a:endParaRPr lang="en-US" sz="1200" dirty="0"/>
          </a:p>
        </p:txBody>
      </p:sp>
      <p:sp>
        <p:nvSpPr>
          <p:cNvPr id="5" name="Text 3"/>
          <p:cNvSpPr/>
          <p:nvPr/>
        </p:nvSpPr>
        <p:spPr>
          <a:xfrm>
            <a:off x="1645920" y="1463040"/>
            <a:ext cx="6126480" cy="228600"/>
          </a:xfrm>
          <a:prstGeom prst="rect">
            <a:avLst/>
          </a:prstGeom>
          <a:noFill/>
          <a:ln/>
        </p:spPr>
        <p:txBody>
          <a:bodyPr wrap="square" rtlCol="0" anchor="ctr"/>
          <a:lstStyle/>
          <a:p>
            <a:pPr marL="0" indent="0">
              <a:buNone/>
            </a:pPr>
            <a:r>
              <a:rPr lang="en-US" sz="1100" i="1" dirty="0">
                <a:solidFill>
                  <a:srgbClr val="CCCCCC"/>
                </a:solidFill>
                <a:latin typeface="Poppins" pitchFamily="34" charset="0"/>
                <a:ea typeface="Poppins" pitchFamily="34" charset="-122"/>
                <a:cs typeface="Poppins" pitchFamily="34" charset="-120"/>
              </a:rPr>
              <a:t>Validar análisis y contexto competitivo</a:t>
            </a:r>
            <a:endParaRPr lang="en-US" sz="1100" dirty="0"/>
          </a:p>
        </p:txBody>
      </p:sp>
      <p:sp>
        <p:nvSpPr>
          <p:cNvPr id="6" name="Text 4"/>
          <p:cNvSpPr/>
          <p:nvPr/>
        </p:nvSpPr>
        <p:spPr>
          <a:xfrm>
            <a:off x="914400" y="2103120"/>
            <a:ext cx="457200" cy="365760"/>
          </a:xfrm>
          <a:prstGeom prst="rect">
            <a:avLst/>
          </a:prstGeom>
          <a:noFill/>
          <a:ln/>
        </p:spPr>
        <p:txBody>
          <a:bodyPr wrap="square" rtlCol="0" anchor="ctr"/>
          <a:lstStyle/>
          <a:p>
            <a:pPr marL="0" indent="0" algn="ctr">
              <a:buNone/>
            </a:pPr>
            <a:r>
              <a:rPr lang="en-US" sz="2400" dirty="0">
                <a:solidFill>
                  <a:srgbClr val="FF6600"/>
                </a:solidFill>
                <a:latin typeface="Poppins" pitchFamily="34" charset="0"/>
                <a:ea typeface="Poppins" pitchFamily="34" charset="-122"/>
                <a:cs typeface="Poppins" pitchFamily="34" charset="-120"/>
              </a:rPr>
              <a:t>2</a:t>
            </a:r>
            <a:endParaRPr lang="en-US" sz="2400" dirty="0"/>
          </a:p>
        </p:txBody>
      </p:sp>
      <p:sp>
        <p:nvSpPr>
          <p:cNvPr id="7" name="Text 5"/>
          <p:cNvSpPr/>
          <p:nvPr/>
        </p:nvSpPr>
        <p:spPr>
          <a:xfrm>
            <a:off x="1645920" y="2148840"/>
            <a:ext cx="6126480" cy="228600"/>
          </a:xfrm>
          <a:prstGeom prst="rect">
            <a:avLst/>
          </a:prstGeom>
          <a:noFill/>
          <a:ln/>
        </p:spPr>
        <p:txBody>
          <a:bodyPr wrap="square" rtlCol="0" anchor="ctr"/>
          <a:lstStyle/>
          <a:p>
            <a:pPr marL="0" indent="0">
              <a:buNone/>
            </a:pPr>
            <a:r>
              <a:rPr lang="en-US" sz="1200" dirty="0">
                <a:solidFill>
                  <a:srgbClr val="FFFFFF"/>
                </a:solidFill>
                <a:latin typeface="Poppins" pitchFamily="34" charset="0"/>
                <a:ea typeface="Poppins" pitchFamily="34" charset="-122"/>
                <a:cs typeface="Poppins" pitchFamily="34" charset="-120"/>
              </a:rPr>
              <a:t>Priorizar iniciativas</a:t>
            </a:r>
            <a:endParaRPr lang="en-US" sz="1200" dirty="0"/>
          </a:p>
        </p:txBody>
      </p:sp>
      <p:sp>
        <p:nvSpPr>
          <p:cNvPr id="8" name="Text 6"/>
          <p:cNvSpPr/>
          <p:nvPr/>
        </p:nvSpPr>
        <p:spPr>
          <a:xfrm>
            <a:off x="1645920" y="2377440"/>
            <a:ext cx="6126480" cy="228600"/>
          </a:xfrm>
          <a:prstGeom prst="rect">
            <a:avLst/>
          </a:prstGeom>
          <a:noFill/>
          <a:ln/>
        </p:spPr>
        <p:txBody>
          <a:bodyPr wrap="square" rtlCol="0" anchor="ctr"/>
          <a:lstStyle/>
          <a:p>
            <a:pPr marL="0" indent="0">
              <a:buNone/>
            </a:pPr>
            <a:r>
              <a:rPr lang="en-US" sz="1100" i="1" dirty="0">
                <a:solidFill>
                  <a:srgbClr val="CCCCCC"/>
                </a:solidFill>
                <a:latin typeface="Poppins" pitchFamily="34" charset="0"/>
                <a:ea typeface="Poppins" pitchFamily="34" charset="-122"/>
                <a:cs typeface="Poppins" pitchFamily="34" charset="-120"/>
              </a:rPr>
              <a:t>Decidir qué cambios implementar en Q2</a:t>
            </a:r>
            <a:endParaRPr lang="en-US" sz="1100" dirty="0"/>
          </a:p>
        </p:txBody>
      </p:sp>
      <p:sp>
        <p:nvSpPr>
          <p:cNvPr id="9" name="Text 7"/>
          <p:cNvSpPr/>
          <p:nvPr/>
        </p:nvSpPr>
        <p:spPr>
          <a:xfrm>
            <a:off x="914400" y="3017520"/>
            <a:ext cx="457200" cy="365760"/>
          </a:xfrm>
          <a:prstGeom prst="rect">
            <a:avLst/>
          </a:prstGeom>
          <a:noFill/>
          <a:ln/>
        </p:spPr>
        <p:txBody>
          <a:bodyPr wrap="square" rtlCol="0" anchor="ctr"/>
          <a:lstStyle/>
          <a:p>
            <a:pPr marL="0" indent="0" algn="ctr">
              <a:buNone/>
            </a:pPr>
            <a:r>
              <a:rPr lang="en-US" sz="2400" dirty="0">
                <a:solidFill>
                  <a:srgbClr val="FF6600"/>
                </a:solidFill>
                <a:latin typeface="Poppins" pitchFamily="34" charset="0"/>
                <a:ea typeface="Poppins" pitchFamily="34" charset="-122"/>
                <a:cs typeface="Poppins" pitchFamily="34" charset="-120"/>
              </a:rPr>
              <a:t>3</a:t>
            </a:r>
            <a:endParaRPr lang="en-US" sz="2400" dirty="0"/>
          </a:p>
        </p:txBody>
      </p:sp>
      <p:sp>
        <p:nvSpPr>
          <p:cNvPr id="10" name="Text 8"/>
          <p:cNvSpPr/>
          <p:nvPr/>
        </p:nvSpPr>
        <p:spPr>
          <a:xfrm>
            <a:off x="1645920" y="3063240"/>
            <a:ext cx="6126480" cy="228600"/>
          </a:xfrm>
          <a:prstGeom prst="rect">
            <a:avLst/>
          </a:prstGeom>
          <a:noFill/>
          <a:ln/>
        </p:spPr>
        <p:txBody>
          <a:bodyPr wrap="square" rtlCol="0" anchor="ctr"/>
          <a:lstStyle/>
          <a:p>
            <a:pPr marL="0" indent="0">
              <a:buNone/>
            </a:pPr>
            <a:r>
              <a:rPr lang="en-US" sz="1200" dirty="0">
                <a:solidFill>
                  <a:srgbClr val="FFFFFF"/>
                </a:solidFill>
                <a:latin typeface="Poppins" pitchFamily="34" charset="0"/>
                <a:ea typeface="Poppins" pitchFamily="34" charset="-122"/>
                <a:cs typeface="Poppins" pitchFamily="34" charset="-120"/>
              </a:rPr>
              <a:t>Implementar Quick Wins</a:t>
            </a:r>
            <a:endParaRPr lang="en-US" sz="1200" dirty="0"/>
          </a:p>
        </p:txBody>
      </p:sp>
      <p:sp>
        <p:nvSpPr>
          <p:cNvPr id="11" name="Text 9"/>
          <p:cNvSpPr/>
          <p:nvPr/>
        </p:nvSpPr>
        <p:spPr>
          <a:xfrm>
            <a:off x="1645920" y="3291840"/>
            <a:ext cx="6126480" cy="228600"/>
          </a:xfrm>
          <a:prstGeom prst="rect">
            <a:avLst/>
          </a:prstGeom>
          <a:noFill/>
          <a:ln/>
        </p:spPr>
        <p:txBody>
          <a:bodyPr wrap="square" rtlCol="0" anchor="ctr"/>
          <a:lstStyle/>
          <a:p>
            <a:pPr marL="0" indent="0">
              <a:buNone/>
            </a:pPr>
            <a:r>
              <a:rPr lang="en-US" sz="1100" i="1" dirty="0">
                <a:solidFill>
                  <a:srgbClr val="CCCCCC"/>
                </a:solidFill>
                <a:latin typeface="Poppins" pitchFamily="34" charset="0"/>
                <a:ea typeface="Poppins" pitchFamily="34" charset="-122"/>
                <a:cs typeface="Poppins" pitchFamily="34" charset="-120"/>
              </a:rPr>
              <a:t>Casos de estudio, Schema.org, contacto con medios</a:t>
            </a:r>
            <a:endParaRPr lang="en-US" sz="1100" dirty="0"/>
          </a:p>
        </p:txBody>
      </p:sp>
      <p:sp>
        <p:nvSpPr>
          <p:cNvPr id="12" name="Text 10"/>
          <p:cNvSpPr/>
          <p:nvPr/>
        </p:nvSpPr>
        <p:spPr>
          <a:xfrm>
            <a:off x="914400" y="3931920"/>
            <a:ext cx="457200" cy="365760"/>
          </a:xfrm>
          <a:prstGeom prst="rect">
            <a:avLst/>
          </a:prstGeom>
          <a:noFill/>
          <a:ln/>
        </p:spPr>
        <p:txBody>
          <a:bodyPr wrap="square" rtlCol="0" anchor="ctr"/>
          <a:lstStyle/>
          <a:p>
            <a:pPr marL="0" indent="0" algn="ctr">
              <a:buNone/>
            </a:pPr>
            <a:r>
              <a:rPr lang="en-US" sz="2400" dirty="0">
                <a:solidFill>
                  <a:srgbClr val="FF6600"/>
                </a:solidFill>
                <a:latin typeface="Poppins" pitchFamily="34" charset="0"/>
                <a:ea typeface="Poppins" pitchFamily="34" charset="-122"/>
                <a:cs typeface="Poppins" pitchFamily="34" charset="-120"/>
              </a:rPr>
              <a:t>4</a:t>
            </a:r>
            <a:endParaRPr lang="en-US" sz="2400" dirty="0"/>
          </a:p>
        </p:txBody>
      </p:sp>
      <p:sp>
        <p:nvSpPr>
          <p:cNvPr id="13" name="Text 11"/>
          <p:cNvSpPr/>
          <p:nvPr/>
        </p:nvSpPr>
        <p:spPr>
          <a:xfrm>
            <a:off x="1645920" y="3977640"/>
            <a:ext cx="6126480" cy="228600"/>
          </a:xfrm>
          <a:prstGeom prst="rect">
            <a:avLst/>
          </a:prstGeom>
          <a:noFill/>
          <a:ln/>
        </p:spPr>
        <p:txBody>
          <a:bodyPr wrap="square" rtlCol="0" anchor="ctr"/>
          <a:lstStyle/>
          <a:p>
            <a:pPr marL="0" indent="0">
              <a:buNone/>
            </a:pPr>
            <a:r>
              <a:rPr lang="en-US" sz="1200" dirty="0">
                <a:solidFill>
                  <a:srgbClr val="FFFFFF"/>
                </a:solidFill>
                <a:latin typeface="Poppins" pitchFamily="34" charset="0"/>
                <a:ea typeface="Poppins" pitchFamily="34" charset="-122"/>
                <a:cs typeface="Poppins" pitchFamily="34" charset="-120"/>
              </a:rPr>
              <a:t>Monitorear progreso</a:t>
            </a:r>
            <a:endParaRPr lang="en-US" sz="1200" dirty="0"/>
          </a:p>
        </p:txBody>
      </p:sp>
      <p:sp>
        <p:nvSpPr>
          <p:cNvPr id="14" name="Text 12"/>
          <p:cNvSpPr/>
          <p:nvPr/>
        </p:nvSpPr>
        <p:spPr>
          <a:xfrm>
            <a:off x="1645920" y="4206240"/>
            <a:ext cx="6126480" cy="228600"/>
          </a:xfrm>
          <a:prstGeom prst="rect">
            <a:avLst/>
          </a:prstGeom>
          <a:noFill/>
          <a:ln/>
        </p:spPr>
        <p:txBody>
          <a:bodyPr wrap="square" rtlCol="0" anchor="ctr"/>
          <a:lstStyle/>
          <a:p>
            <a:pPr marL="0" indent="0">
              <a:buNone/>
            </a:pPr>
            <a:r>
              <a:rPr lang="en-US" sz="1100" i="1" dirty="0">
                <a:solidFill>
                  <a:srgbClr val="CCCCCC"/>
                </a:solidFill>
                <a:latin typeface="Poppins" pitchFamily="34" charset="0"/>
                <a:ea typeface="Poppins" pitchFamily="34" charset="-122"/>
                <a:cs typeface="Poppins" pitchFamily="34" charset="-120"/>
              </a:rPr>
              <a:t>Re-auditar en 60-90 días para medir mejora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200400" cy="6858000"/>
          </a:xfrm>
          <a:prstGeom prst="rect">
            <a:avLst/>
          </a:prstGeom>
          <a:solidFill>
            <a:srgbClr val="0F1B3D"/>
          </a:solidFill>
          <a:ln>
            <a:solidFill>
              <a:srgbClr val="0F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3"/>
          <a:stretch>
            <a:fillRect/>
          </a:stretch>
        </p:blipFill>
        <p:spPr>
          <a:xfrm>
            <a:off x="274320" y="1645920"/>
            <a:ext cx="2651760" cy="2651760"/>
          </a:xfrm>
          <a:prstGeom prst="rect">
            <a:avLst/>
          </a:prstGeom>
        </p:spPr>
      </p:pic>
      <p:sp>
        <p:nvSpPr>
          <p:cNvPr id="4" name="Rectangle 3"/>
          <p:cNvSpPr/>
          <p:nvPr/>
        </p:nvSpPr>
        <p:spPr>
          <a:xfrm>
            <a:off x="3200400" y="0"/>
            <a:ext cx="594360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0" y="0"/>
            <a:ext cx="73152" cy="6858000"/>
          </a:xfrm>
          <a:prstGeom prst="rect">
            <a:avLst/>
          </a:prstGeom>
          <a:solidFill>
            <a:srgbClr val="FF66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548640"/>
            <a:ext cx="5212080" cy="365760"/>
          </a:xfrm>
          <a:prstGeom prst="rect">
            <a:avLst/>
          </a:prstGeom>
          <a:noFill/>
        </p:spPr>
        <p:txBody>
          <a:bodyPr wrap="none">
            <a:spAutoFit/>
          </a:bodyPr>
          <a:lstStyle/>
          <a:p>
            <a:pPr>
              <a:defRPr sz="1600" b="0">
                <a:solidFill>
                  <a:srgbClr val="0F1B3D"/>
                </a:solidFill>
                <a:latin typeface="Poppins"/>
              </a:defRPr>
            </a:pPr>
            <a:r>
              <a:t>Contacto directo</a:t>
            </a:r>
          </a:p>
        </p:txBody>
      </p:sp>
      <p:sp>
        <p:nvSpPr>
          <p:cNvPr id="7" name="Rectangle 6"/>
          <p:cNvSpPr/>
          <p:nvPr/>
        </p:nvSpPr>
        <p:spPr>
          <a:xfrm>
            <a:off x="3566160" y="960120"/>
            <a:ext cx="1371600" cy="36576"/>
          </a:xfrm>
          <a:prstGeom prst="rect">
            <a:avLst/>
          </a:prstGeom>
          <a:solidFill>
            <a:srgbClr val="FF66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280160"/>
            <a:ext cx="365760" cy="274320"/>
          </a:xfrm>
          <a:prstGeom prst="rect">
            <a:avLst/>
          </a:prstGeom>
          <a:noFill/>
        </p:spPr>
        <p:txBody>
          <a:bodyPr wrap="none">
            <a:spAutoFit/>
          </a:bodyPr>
          <a:lstStyle/>
          <a:p>
            <a:pPr>
              <a:defRPr sz="1600"/>
            </a:pPr>
            <a:r>
              <a:t>📧</a:t>
            </a:r>
          </a:p>
        </p:txBody>
      </p:sp>
      <p:sp>
        <p:nvSpPr>
          <p:cNvPr id="9" name="TextBox 8"/>
          <p:cNvSpPr txBox="1"/>
          <p:nvPr/>
        </p:nvSpPr>
        <p:spPr>
          <a:xfrm>
            <a:off x="4023360" y="1234440"/>
            <a:ext cx="4572000" cy="365760"/>
          </a:xfrm>
          <a:prstGeom prst="rect">
            <a:avLst/>
          </a:prstGeom>
          <a:noFill/>
        </p:spPr>
        <p:txBody>
          <a:bodyPr wrap="none">
            <a:spAutoFit/>
          </a:bodyPr>
          <a:lstStyle/>
          <a:p>
            <a:pPr>
              <a:defRPr sz="1100">
                <a:solidFill>
                  <a:srgbClr val="555555"/>
                </a:solidFill>
                <a:latin typeface="Poppins"/>
              </a:defRPr>
            </a:pPr>
            <a:r>
              <a:t>carolina@lafabricadelseo.com</a:t>
            </a:r>
          </a:p>
        </p:txBody>
      </p:sp>
      <p:sp>
        <p:nvSpPr>
          <p:cNvPr id="10" name="TextBox 9"/>
          <p:cNvSpPr txBox="1"/>
          <p:nvPr/>
        </p:nvSpPr>
        <p:spPr>
          <a:xfrm>
            <a:off x="3566160" y="1691640"/>
            <a:ext cx="365760" cy="274320"/>
          </a:xfrm>
          <a:prstGeom prst="rect">
            <a:avLst/>
          </a:prstGeom>
          <a:noFill/>
        </p:spPr>
        <p:txBody>
          <a:bodyPr wrap="none">
            <a:spAutoFit/>
          </a:bodyPr>
          <a:lstStyle/>
          <a:p>
            <a:pPr>
              <a:defRPr sz="1600"/>
            </a:pPr>
            <a:r>
              <a:t>📱</a:t>
            </a:r>
          </a:p>
        </p:txBody>
      </p:sp>
      <p:sp>
        <p:nvSpPr>
          <p:cNvPr id="11" name="TextBox 10"/>
          <p:cNvSpPr txBox="1"/>
          <p:nvPr/>
        </p:nvSpPr>
        <p:spPr>
          <a:xfrm>
            <a:off x="4023360" y="1645920"/>
            <a:ext cx="4572000" cy="365760"/>
          </a:xfrm>
          <a:prstGeom prst="rect">
            <a:avLst/>
          </a:prstGeom>
          <a:noFill/>
        </p:spPr>
        <p:txBody>
          <a:bodyPr wrap="none">
            <a:spAutoFit/>
          </a:bodyPr>
          <a:lstStyle/>
          <a:p>
            <a:pPr>
              <a:defRPr sz="1100">
                <a:solidFill>
                  <a:srgbClr val="555555"/>
                </a:solidFill>
                <a:latin typeface="Poppins"/>
              </a:defRPr>
            </a:pPr>
            <a:r>
              <a:t>+34 602 24 32 17</a:t>
            </a:r>
          </a:p>
        </p:txBody>
      </p:sp>
      <p:sp>
        <p:nvSpPr>
          <p:cNvPr id="12" name="TextBox 11"/>
          <p:cNvSpPr txBox="1"/>
          <p:nvPr/>
        </p:nvSpPr>
        <p:spPr>
          <a:xfrm>
            <a:off x="3566160" y="2103120"/>
            <a:ext cx="365760" cy="274320"/>
          </a:xfrm>
          <a:prstGeom prst="rect">
            <a:avLst/>
          </a:prstGeom>
          <a:noFill/>
        </p:spPr>
        <p:txBody>
          <a:bodyPr wrap="none">
            <a:spAutoFit/>
          </a:bodyPr>
          <a:lstStyle/>
          <a:p>
            <a:pPr>
              <a:defRPr sz="1600"/>
            </a:pPr>
            <a:r>
              <a:t>🌐</a:t>
            </a:r>
          </a:p>
        </p:txBody>
      </p:sp>
      <p:sp>
        <p:nvSpPr>
          <p:cNvPr id="13" name="TextBox 12"/>
          <p:cNvSpPr txBox="1"/>
          <p:nvPr/>
        </p:nvSpPr>
        <p:spPr>
          <a:xfrm>
            <a:off x="4023360" y="2057400"/>
            <a:ext cx="4572000" cy="365760"/>
          </a:xfrm>
          <a:prstGeom prst="rect">
            <a:avLst/>
          </a:prstGeom>
          <a:noFill/>
        </p:spPr>
        <p:txBody>
          <a:bodyPr wrap="none">
            <a:spAutoFit/>
          </a:bodyPr>
          <a:lstStyle/>
          <a:p>
            <a:pPr>
              <a:defRPr sz="1100">
                <a:solidFill>
                  <a:srgbClr val="555555"/>
                </a:solidFill>
                <a:latin typeface="Poppins"/>
              </a:defRPr>
            </a:pPr>
            <a:r>
              <a:t>lafabricadelseo.com</a:t>
            </a:r>
          </a:p>
        </p:txBody>
      </p:sp>
      <p:sp>
        <p:nvSpPr>
          <p:cNvPr id="14" name="TextBox 13"/>
          <p:cNvSpPr txBox="1"/>
          <p:nvPr/>
        </p:nvSpPr>
        <p:spPr>
          <a:xfrm>
            <a:off x="3566160" y="2834640"/>
            <a:ext cx="5212080" cy="365760"/>
          </a:xfrm>
          <a:prstGeom prst="rect">
            <a:avLst/>
          </a:prstGeom>
          <a:noFill/>
        </p:spPr>
        <p:txBody>
          <a:bodyPr wrap="none">
            <a:spAutoFit/>
          </a:bodyPr>
          <a:lstStyle/>
          <a:p>
            <a:pPr>
              <a:defRPr sz="1600" b="0">
                <a:solidFill>
                  <a:srgbClr val="0F1B3D"/>
                </a:solidFill>
                <a:latin typeface="Poppins"/>
              </a:defRPr>
            </a:pPr>
            <a:r>
              <a:t>Servicios</a:t>
            </a:r>
          </a:p>
        </p:txBody>
      </p:sp>
      <p:sp>
        <p:nvSpPr>
          <p:cNvPr id="15" name="Rectangle 14"/>
          <p:cNvSpPr/>
          <p:nvPr/>
        </p:nvSpPr>
        <p:spPr>
          <a:xfrm>
            <a:off x="3566160" y="3246120"/>
            <a:ext cx="1097280" cy="36576"/>
          </a:xfrm>
          <a:prstGeom prst="rect">
            <a:avLst/>
          </a:prstGeom>
          <a:solidFill>
            <a:srgbClr val="FF66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66160" y="36576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3730752"/>
            <a:ext cx="1005840" cy="274320"/>
          </a:xfrm>
          <a:prstGeom prst="rect">
            <a:avLst/>
          </a:prstGeom>
          <a:noFill/>
        </p:spPr>
        <p:txBody>
          <a:bodyPr wrap="none">
            <a:spAutoFit/>
          </a:bodyPr>
          <a:lstStyle/>
          <a:p>
            <a:pPr algn="l">
              <a:defRPr sz="2000"/>
            </a:pPr>
            <a:r>
              <a:t>🔍</a:t>
            </a:r>
          </a:p>
        </p:txBody>
      </p:sp>
      <p:sp>
        <p:nvSpPr>
          <p:cNvPr id="18" name="TextBox 17"/>
          <p:cNvSpPr txBox="1"/>
          <p:nvPr/>
        </p:nvSpPr>
        <p:spPr>
          <a:xfrm>
            <a:off x="3657600" y="4041648"/>
            <a:ext cx="1097280" cy="320040"/>
          </a:xfrm>
          <a:prstGeom prst="rect">
            <a:avLst/>
          </a:prstGeom>
          <a:noFill/>
        </p:spPr>
        <p:txBody>
          <a:bodyPr wrap="square">
            <a:spAutoFit/>
          </a:bodyPr>
          <a:lstStyle/>
          <a:p>
            <a:pPr algn="l">
              <a:defRPr sz="1000">
                <a:solidFill>
                  <a:srgbClr val="0F1B3D"/>
                </a:solidFill>
                <a:latin typeface="Poppins"/>
              </a:defRPr>
            </a:pPr>
            <a:r>
              <a:t>SEO</a:t>
            </a:r>
          </a:p>
        </p:txBody>
      </p:sp>
      <p:sp>
        <p:nvSpPr>
          <p:cNvPr id="19" name="Rounded Rectangle 18"/>
          <p:cNvSpPr/>
          <p:nvPr/>
        </p:nvSpPr>
        <p:spPr>
          <a:xfrm>
            <a:off x="5120640" y="36576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3730752"/>
            <a:ext cx="1005840" cy="274320"/>
          </a:xfrm>
          <a:prstGeom prst="rect">
            <a:avLst/>
          </a:prstGeom>
          <a:noFill/>
        </p:spPr>
        <p:txBody>
          <a:bodyPr wrap="none">
            <a:spAutoFit/>
          </a:bodyPr>
          <a:lstStyle/>
          <a:p>
            <a:pPr algn="l">
              <a:defRPr sz="2000"/>
            </a:pPr>
            <a:r>
              <a:t>🤖</a:t>
            </a:r>
          </a:p>
        </p:txBody>
      </p:sp>
      <p:sp>
        <p:nvSpPr>
          <p:cNvPr id="21" name="TextBox 20"/>
          <p:cNvSpPr txBox="1"/>
          <p:nvPr/>
        </p:nvSpPr>
        <p:spPr>
          <a:xfrm>
            <a:off x="5212079" y="4041648"/>
            <a:ext cx="1097280" cy="320040"/>
          </a:xfrm>
          <a:prstGeom prst="rect">
            <a:avLst/>
          </a:prstGeom>
          <a:noFill/>
        </p:spPr>
        <p:txBody>
          <a:bodyPr wrap="square">
            <a:spAutoFit/>
          </a:bodyPr>
          <a:lstStyle/>
          <a:p>
            <a:pPr algn="l">
              <a:defRPr sz="1000">
                <a:solidFill>
                  <a:srgbClr val="0F1B3D"/>
                </a:solidFill>
                <a:latin typeface="Poppins"/>
              </a:defRPr>
            </a:pPr>
            <a:r>
              <a:t>IA &amp; GEO</a:t>
            </a:r>
          </a:p>
        </p:txBody>
      </p:sp>
      <p:sp>
        <p:nvSpPr>
          <p:cNvPr id="22" name="Rounded Rectangle 21"/>
          <p:cNvSpPr/>
          <p:nvPr/>
        </p:nvSpPr>
        <p:spPr>
          <a:xfrm>
            <a:off x="6675120" y="36576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3730752"/>
            <a:ext cx="1005840" cy="274320"/>
          </a:xfrm>
          <a:prstGeom prst="rect">
            <a:avLst/>
          </a:prstGeom>
          <a:noFill/>
        </p:spPr>
        <p:txBody>
          <a:bodyPr wrap="none">
            <a:spAutoFit/>
          </a:bodyPr>
          <a:lstStyle/>
          <a:p>
            <a:pPr algn="l">
              <a:defRPr sz="2000"/>
            </a:pPr>
            <a:r>
              <a:t>📊</a:t>
            </a:r>
          </a:p>
        </p:txBody>
      </p:sp>
      <p:sp>
        <p:nvSpPr>
          <p:cNvPr id="24" name="TextBox 23"/>
          <p:cNvSpPr txBox="1"/>
          <p:nvPr/>
        </p:nvSpPr>
        <p:spPr>
          <a:xfrm>
            <a:off x="6766559" y="4041648"/>
            <a:ext cx="1097280" cy="320040"/>
          </a:xfrm>
          <a:prstGeom prst="rect">
            <a:avLst/>
          </a:prstGeom>
          <a:noFill/>
        </p:spPr>
        <p:txBody>
          <a:bodyPr wrap="square">
            <a:spAutoFit/>
          </a:bodyPr>
          <a:lstStyle/>
          <a:p>
            <a:pPr algn="l">
              <a:defRPr sz="1000">
                <a:solidFill>
                  <a:srgbClr val="0F1B3D"/>
                </a:solidFill>
                <a:latin typeface="Poppins"/>
              </a:defRPr>
            </a:pPr>
            <a:r>
              <a:t>Paid Media</a:t>
            </a:r>
          </a:p>
        </p:txBody>
      </p:sp>
      <p:sp>
        <p:nvSpPr>
          <p:cNvPr id="25" name="Rounded Rectangle 24"/>
          <p:cNvSpPr/>
          <p:nvPr/>
        </p:nvSpPr>
        <p:spPr>
          <a:xfrm>
            <a:off x="3566160" y="45720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03320" y="4645152"/>
            <a:ext cx="1005840" cy="274320"/>
          </a:xfrm>
          <a:prstGeom prst="rect">
            <a:avLst/>
          </a:prstGeom>
          <a:noFill/>
        </p:spPr>
        <p:txBody>
          <a:bodyPr wrap="none">
            <a:spAutoFit/>
          </a:bodyPr>
          <a:lstStyle/>
          <a:p>
            <a:pPr algn="l">
              <a:defRPr sz="2000"/>
            </a:pPr>
            <a:r>
              <a:t>📝</a:t>
            </a:r>
          </a:p>
        </p:txBody>
      </p:sp>
      <p:sp>
        <p:nvSpPr>
          <p:cNvPr id="27" name="TextBox 26"/>
          <p:cNvSpPr txBox="1"/>
          <p:nvPr/>
        </p:nvSpPr>
        <p:spPr>
          <a:xfrm>
            <a:off x="3657600" y="4956048"/>
            <a:ext cx="1097280" cy="320040"/>
          </a:xfrm>
          <a:prstGeom prst="rect">
            <a:avLst/>
          </a:prstGeom>
          <a:noFill/>
        </p:spPr>
        <p:txBody>
          <a:bodyPr wrap="square">
            <a:spAutoFit/>
          </a:bodyPr>
          <a:lstStyle/>
          <a:p>
            <a:pPr algn="l">
              <a:defRPr sz="1000">
                <a:solidFill>
                  <a:srgbClr val="0F1B3D"/>
                </a:solidFill>
                <a:latin typeface="Poppins"/>
              </a:defRPr>
            </a:pPr>
            <a:r>
              <a:t>Contenido</a:t>
            </a:r>
          </a:p>
        </p:txBody>
      </p:sp>
      <p:sp>
        <p:nvSpPr>
          <p:cNvPr id="28" name="Rounded Rectangle 27"/>
          <p:cNvSpPr/>
          <p:nvPr/>
        </p:nvSpPr>
        <p:spPr>
          <a:xfrm>
            <a:off x="5120640" y="45720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4645152"/>
            <a:ext cx="1005840" cy="274320"/>
          </a:xfrm>
          <a:prstGeom prst="rect">
            <a:avLst/>
          </a:prstGeom>
          <a:noFill/>
        </p:spPr>
        <p:txBody>
          <a:bodyPr wrap="none">
            <a:spAutoFit/>
          </a:bodyPr>
          <a:lstStyle/>
          <a:p>
            <a:pPr algn="l">
              <a:defRPr sz="2000"/>
            </a:pPr>
            <a:r>
              <a:t>🎯</a:t>
            </a:r>
          </a:p>
        </p:txBody>
      </p:sp>
      <p:sp>
        <p:nvSpPr>
          <p:cNvPr id="30" name="TextBox 29"/>
          <p:cNvSpPr txBox="1"/>
          <p:nvPr/>
        </p:nvSpPr>
        <p:spPr>
          <a:xfrm>
            <a:off x="5212079" y="4956048"/>
            <a:ext cx="1097280" cy="320040"/>
          </a:xfrm>
          <a:prstGeom prst="rect">
            <a:avLst/>
          </a:prstGeom>
          <a:noFill/>
        </p:spPr>
        <p:txBody>
          <a:bodyPr wrap="square">
            <a:spAutoFit/>
          </a:bodyPr>
          <a:lstStyle/>
          <a:p>
            <a:pPr algn="l">
              <a:defRPr sz="1000">
                <a:solidFill>
                  <a:srgbClr val="0F1B3D"/>
                </a:solidFill>
                <a:latin typeface="Poppins"/>
              </a:defRPr>
            </a:pPr>
            <a:r>
              <a:t>Estrategia</a:t>
            </a:r>
          </a:p>
        </p:txBody>
      </p:sp>
      <p:sp>
        <p:nvSpPr>
          <p:cNvPr id="31" name="Rounded Rectangle 30"/>
          <p:cNvSpPr/>
          <p:nvPr/>
        </p:nvSpPr>
        <p:spPr>
          <a:xfrm>
            <a:off x="6675120" y="4572000"/>
            <a:ext cx="1280160" cy="731520"/>
          </a:xfrm>
          <a:prstGeom prst="roundRect">
            <a:avLst/>
          </a:prstGeom>
          <a:solidFill>
            <a:srgbClr val="F5F7FA"/>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4645152"/>
            <a:ext cx="1005840" cy="274320"/>
          </a:xfrm>
          <a:prstGeom prst="rect">
            <a:avLst/>
          </a:prstGeom>
          <a:noFill/>
        </p:spPr>
        <p:txBody>
          <a:bodyPr wrap="none">
            <a:spAutoFit/>
          </a:bodyPr>
          <a:lstStyle/>
          <a:p>
            <a:pPr algn="l">
              <a:defRPr sz="2000"/>
            </a:pPr>
            <a:r>
              <a:t>⚡</a:t>
            </a:r>
          </a:p>
        </p:txBody>
      </p:sp>
      <p:sp>
        <p:nvSpPr>
          <p:cNvPr id="33" name="TextBox 32"/>
          <p:cNvSpPr txBox="1"/>
          <p:nvPr/>
        </p:nvSpPr>
        <p:spPr>
          <a:xfrm>
            <a:off x="6766559" y="4956048"/>
            <a:ext cx="1097280" cy="320040"/>
          </a:xfrm>
          <a:prstGeom prst="rect">
            <a:avLst/>
          </a:prstGeom>
          <a:noFill/>
        </p:spPr>
        <p:txBody>
          <a:bodyPr wrap="square">
            <a:spAutoFit/>
          </a:bodyPr>
          <a:lstStyle/>
          <a:p>
            <a:pPr algn="l">
              <a:defRPr sz="1000">
                <a:solidFill>
                  <a:srgbClr val="0F1B3D"/>
                </a:solidFill>
                <a:latin typeface="Poppins"/>
              </a:defRPr>
            </a:pPr>
            <a:r>
              <a:t>Automatización</a:t>
            </a:r>
          </a:p>
        </p:txBody>
      </p:sp>
      <p:sp>
        <p:nvSpPr>
          <p:cNvPr id="34" name="TextBox 33"/>
          <p:cNvSpPr txBox="1"/>
          <p:nvPr/>
        </p:nvSpPr>
        <p:spPr>
          <a:xfrm>
            <a:off x="3566160" y="5760720"/>
            <a:ext cx="5212080" cy="320040"/>
          </a:xfrm>
          <a:prstGeom prst="rect">
            <a:avLst/>
          </a:prstGeom>
          <a:noFill/>
        </p:spPr>
        <p:txBody>
          <a:bodyPr wrap="none">
            <a:spAutoFit/>
          </a:bodyPr>
          <a:lstStyle/>
          <a:p>
            <a:pPr>
              <a:defRPr sz="1300" b="0">
                <a:solidFill>
                  <a:srgbClr val="0F1B3D"/>
                </a:solidFill>
                <a:latin typeface="Poppins"/>
              </a:defRPr>
            </a:pPr>
            <a:r>
              <a:t>Carolina Vallés</a:t>
            </a:r>
          </a:p>
        </p:txBody>
      </p:sp>
      <p:sp>
        <p:nvSpPr>
          <p:cNvPr id="35" name="TextBox 34"/>
          <p:cNvSpPr txBox="1"/>
          <p:nvPr/>
        </p:nvSpPr>
        <p:spPr>
          <a:xfrm>
            <a:off x="3566160" y="6080760"/>
            <a:ext cx="5212080" cy="228600"/>
          </a:xfrm>
          <a:prstGeom prst="rect">
            <a:avLst/>
          </a:prstGeom>
          <a:noFill/>
        </p:spPr>
        <p:txBody>
          <a:bodyPr wrap="none">
            <a:spAutoFit/>
          </a:bodyPr>
          <a:lstStyle/>
          <a:p>
            <a:pPr>
              <a:defRPr sz="1000">
                <a:solidFill>
                  <a:srgbClr val="FF6600"/>
                </a:solidFill>
                <a:latin typeface="Poppins"/>
              </a:defRPr>
            </a:pPr>
            <a:r>
              <a:t>Directora de Auditoría GEO &amp; SEO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606</Words>
  <Application>Microsoft Office PowerPoint</Application>
  <PresentationFormat>Presentación en pantalla (16:9)</PresentationFormat>
  <Paragraphs>129</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Poppins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cp:lastModifiedBy>
  <cp:revision>2</cp:revision>
  <dcterms:created xsi:type="dcterms:W3CDTF">2026-05-08T10:59:44Z</dcterms:created>
  <dcterms:modified xsi:type="dcterms:W3CDTF">2026-05-08T11:01:10Z</dcterms:modified>
</cp:coreProperties>
</file>